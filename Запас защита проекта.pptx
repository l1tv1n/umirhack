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Вступление: система ведёт партии со сроком годности, сама собирает стоп-лист, считает, что не успеют продать, и подсказывает, что с этим делать. Дальше показываем, как это выглядит, и разбираем, как устроено.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Привязка к кейсу: приём поставок по партиям, расход с ближайшего срока, стоп-лист, горячие предложения, прогноз, обновление без перезагрузки. Каждую строку дальше показываем на экране.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Панель считает остатки, сроки и риск по общему срезу данных. Данные на экране обновляются сами: сервер шлёт сигнал, интерфейс перечитывает нужное. Код: modules/analytics/service.ts, getDashboard.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Автостоп считает чистая функция evaluateAutoStops (domain/stoplist.ts). Прогноз с поставками: domain/stoplist-forecast.ts. Поставка считается привезённой в 12:00 дня прибытия, опоздавшие заказы и заказы без даты в расчёт не берутся.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Функция computeHotDishes, файл domain/hot-dishes.ts. Проверка: тест на сотнях случайных кухонь и сравнение с «оракулом», корреляция с лучшим возможным результатом выросла с 0,54 до 0,80. Время суток учитывается, если у блюда не меньше десяти продаж в истории.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сообщение о стопе и очередь без связи, справа экран кухни. Заказ отправляется с ключом идемпотентности и временем приёма. Код: web/src/lib/useWaiterGet.ts, outbox.ts, на сервере modules/guest-orders/service.ts createOrder.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«Что если»: domain/what-if.ts и modules/what-if. Тест сверяет число партий, движений, документов и записей аудита до и после прогона. Помощник: modules/assistant, 12 готовых запросов только на чтение, модель получает текст вопроса и описание запросов, данные системы в неё не уходят.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Бронь товар не списывает, она держит остаток два часа. Списание происходит при выдаче: modules/storefront/service.ts, функции reserve и pickUp. Бронь создаётся в транзакции с блокировкой строки предложения, десять одновременных запросов на три единицы дают ровно три брони.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Монолит выбран сознательно: склад, журнал и стоп-лист в одной транзакции не расходятся. Отдельно только кабинет поставщика «Отгрузка», у него свои пользователи и своя база. Файлы: app.ts, db/migrations/0001_init.sql и 0002_hardening.sql, docker/initdb/01-roles.sh. Правило границы: нужен db или deps, значит это modules/.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Файлы: modules/stock/operations.ts runDocument, modules/stock/allocation.ts lockCandidates, domain/fefo.ts compareFefo, lib/retry.ts retryOnConflict. Уровень изоляции READ COMMITTED: остатки защищены блокировками строк и CHECK, SERIALIZABLE дал бы лишние откаты. Тест гонки: apps/server/test/stock.test.ts.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Исходы обращения к кешу: HIT, MISS, JOINED, STALE видны в заголовке X-Cache и на вкладке «Кеш» в админке. Срез живёт 20 секунд, не больше 8 срезов и 32 агрегатов. Кассовые продажи кеш не сбрасывают, стоп-лист по ним обновляется фоном. SSE: modules/events/routes.ts, lib/events.ts, web/src/api/live.ts. Кластер: modules/cluster/sync.ts. Подробно: docs/CACHING.md.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Файлы: auth/password.ts, auth/service.ts refresh, auth/two-factor.ts, plugins/access.ts (onRoute), lib/scope.ts, audit/audit.ts writeAudit и verifyAuditChain, plugins/security.ts, integrations/guard.ts guardedLookup (проверяет итоговый IP при соединении, подмена DNS не помогает). Тесты: sweep.test.ts, security.test.ts, platform.test.ts, two-factor.test.ts, storefront.test.ts. Подробно: docs/SECURITY.md.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спросят про масштаб: проверяли на 54 тысячах партий, не на миллионе. Узкое место известно, это сборка среза. План: срез по точке, материализованные агрегаты, шардирование по организациям. Список ограничений с планом: docs/EXPERT-GUIDE.md, раздел ОГРАНИЧЕНИЯ.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Финал. Остановиться на этом слайде и открыть вопросы. Прод для проверки: litvinskiy-dev.ru. Справочник по коду и список жёстких вопросов с ответами: docs/EXPERT-GUIDE.md.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2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CDE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94060"/>
            <a:ext cx="10566400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30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3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20130"/>
            <a:ext cx="10566400" cy="4525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94060"/>
            <a:ext cx="10566400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30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3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20130"/>
            <a:ext cx="10566400" cy="4525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94060"/>
            <a:ext cx="10566400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3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3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20130"/>
            <a:ext cx="10566400" cy="4525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E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94060"/>
            <a:ext cx="10566400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30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3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20130"/>
            <a:ext cx="10566400" cy="4525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497D"/>
              </a:gs>
              <a:gs pos="45000">
                <a:srgbClr val="0069B4"/>
              </a:gs>
              <a:gs pos="100000">
                <a:srgbClr val="1AA6E4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413500" y="952500"/>
            <a:ext cx="4965700" cy="355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0" dist="190500" dir="5400000">
              <a:srgbClr val="00122E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13500" y="952500"/>
            <a:ext cx="4965700" cy="254000"/>
          </a:xfrm>
          <a:custGeom>
            <a:avLst/>
            <a:gdLst/>
            <a:ahLst/>
            <a:cxnLst/>
            <a:rect l="l" t="t" r="r" b="b"/>
            <a:pathLst>
              <a:path w="4965700" h="254000">
                <a:moveTo>
                  <a:pt x="0" y="101600"/>
                </a:moveTo>
                <a:arcTo hR="101600" wR="101600" stAng="10800000" swAng="5400000"/>
                <a:lnTo>
                  <a:pt x="4864100" y="0"/>
                </a:lnTo>
                <a:arcTo hR="101600" wR="101600" stAng="16200000" swAng="5400000"/>
                <a:lnTo>
                  <a:pt x="4965700" y="254000"/>
                </a:lnTo>
                <a:lnTo>
                  <a:pt x="0" y="254000"/>
                </a:lnTo>
                <a:close/>
              </a:path>
            </a:pathLst>
          </a:custGeom>
          <a:solidFill>
            <a:srgbClr val="E4EAF0"/>
          </a:solidFill>
          <a:ln/>
        </p:spPr>
      </p:sp>
      <p:pic>
        <p:nvPicPr>
          <p:cNvPr id="5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27800" y="1038225"/>
            <a:ext cx="82550" cy="82550"/>
          </a:xfrm>
          <a:prstGeom prst="rect">
            <a:avLst/>
          </a:prstGeom>
        </p:spPr>
      </p:pic>
      <p:pic>
        <p:nvPicPr>
          <p:cNvPr id="6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67500" y="1038225"/>
            <a:ext cx="82550" cy="82550"/>
          </a:xfrm>
          <a:prstGeom prst="rect">
            <a:avLst/>
          </a:prstGeom>
        </p:spPr>
      </p:pic>
      <p:pic>
        <p:nvPicPr>
          <p:cNvPr id="7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07200" y="1038225"/>
            <a:ext cx="82550" cy="82550"/>
          </a:xfrm>
          <a:prstGeom prst="rect">
            <a:avLst/>
          </a:prstGeom>
        </p:spPr>
      </p:pic>
      <p:pic>
        <p:nvPicPr>
          <p:cNvPr id="8" name="Image 3" descr="Панель «Обзор» в приложении">    </p:cNvPr>
          <p:cNvPicPr>
            <a:picLocks noChangeAspect="1"/>
          </p:cNvPicPr>
          <p:nvPr/>
        </p:nvPicPr>
        <p:blipFill>
          <a:blip r:embed="rId4"/>
          <a:srcRect l="0" r="6010" t="0" b="0"/>
          <a:stretch/>
        </p:blipFill>
        <p:spPr>
          <a:xfrm>
            <a:off x="6413500" y="1206500"/>
            <a:ext cx="4965700" cy="3302000"/>
          </a:xfrm>
          <a:custGeom>
            <a:avLst/>
            <a:gdLst/>
            <a:ahLst/>
            <a:cxnLst/>
            <a:rect l="l" t="t" r="r" b="b"/>
            <a:pathLst>
              <a:path w="4965700" h="3302000">
                <a:moveTo>
                  <a:pt x="4965700" y="3200400"/>
                </a:moveTo>
                <a:arcTo wR="101600" hR="101600" stAng="0" swAng="5400000"/>
                <a:lnTo>
                  <a:pt x="101600" y="3302000"/>
                </a:lnTo>
                <a:arcTo wR="101600" hR="101600" stAng="5400000" swAng="5400000"/>
                <a:lnTo>
                  <a:pt x="0" y="0"/>
                </a:lnTo>
                <a:lnTo>
                  <a:pt x="4965700" y="0"/>
                </a:lnTo>
                <a:close/>
              </a:path>
            </a:pathLst>
          </a:custGeom>
        </p:spPr>
      </p:pic>
      <p:pic>
        <p:nvPicPr>
          <p:cNvPr id="9" name="Image 4" descr="Знак «Запаса»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711200"/>
            <a:ext cx="508000" cy="508000"/>
          </a:xfrm>
          <a:prstGeom prst="roundRect">
            <a:avLst>
              <a:gd name="adj" fmla="val 25000"/>
            </a:avLst>
          </a:prstGeom>
          <a:effectLst>
            <a:outerShdw sx="100000" sy="100000" kx="0" ky="0" algn="bl" rotWithShape="0" blurRad="190500" dist="63500" dir="5400000">
              <a:srgbClr val="00122E">
                <a:alpha val="35000"/>
              </a:srgbClr>
            </a:outerShdw>
          </a:effectLst>
        </p:spPr>
      </p:pic>
      <p:sp>
        <p:nvSpPr>
          <p:cNvPr id="10" name="Text 3"/>
          <p:cNvSpPr/>
          <p:nvPr/>
        </p:nvSpPr>
        <p:spPr>
          <a:xfrm>
            <a:off x="1498600" y="863600"/>
            <a:ext cx="497078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UMIRHACK III · КЕЙС «ФЛАГМАН»</a:t>
            </a:r>
            <a:endParaRPr lang="en-US" sz="1150" dirty="0"/>
          </a:p>
        </p:txBody>
      </p:sp>
      <p:sp>
        <p:nvSpPr>
          <p:cNvPr id="11" name="Text 4"/>
          <p:cNvSpPr/>
          <p:nvPr>
            <p:ph type="title"/>
          </p:nvPr>
        </p:nvSpPr>
        <p:spPr>
          <a:xfrm>
            <a:off x="825500" y="2159000"/>
            <a:ext cx="5755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00"/>
              </a:lnSpc>
              <a:buNone/>
            </a:pPr>
            <a:r>
              <a:rPr lang="en-US" sz="8800" b="1" i="0" spc="-30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8800" dirty="0"/>
          </a:p>
        </p:txBody>
      </p:sp>
      <p:sp>
        <p:nvSpPr>
          <p:cNvPr id="12" name="Text 5"/>
          <p:cNvSpPr/>
          <p:nvPr/>
        </p:nvSpPr>
        <p:spPr>
          <a:xfrm>
            <a:off x="812800" y="3810000"/>
            <a:ext cx="536321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Остатки, сроки годности и стоп-лист для кухонь и магазинов</a:t>
            </a:r>
            <a:endParaRPr lang="en-US" sz="2250" dirty="0"/>
          </a:p>
        </p:txBody>
      </p:sp>
      <p:sp>
        <p:nvSpPr>
          <p:cNvPr id="13" name="Shape 6"/>
          <p:cNvSpPr/>
          <p:nvPr/>
        </p:nvSpPr>
        <p:spPr>
          <a:xfrm>
            <a:off x="812800" y="5588000"/>
            <a:ext cx="10566400" cy="1270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4" name="Text 7"/>
          <p:cNvSpPr/>
          <p:nvPr/>
        </p:nvSpPr>
        <p:spPr>
          <a:xfrm>
            <a:off x="812800" y="5797550"/>
            <a:ext cx="9156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Команда CyberPink228 · litvinskiy-dev.ru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27930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6505"/>
            <a:ext cx="7693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640564" y="406400"/>
            <a:ext cx="2738636" cy="322560"/>
          </a:xfrm>
          <a:prstGeom prst="roundRect">
            <a:avLst>
              <a:gd name="adj" fmla="val 50000"/>
            </a:avLst>
          </a:prstGeom>
          <a:solidFill>
            <a:srgbClr val="DCEC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0069B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РЕШАЕТ СИСТЕМА</a:t>
            </a:r>
            <a:endParaRPr lang="en-US" sz="11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894060"/>
            <a:ext cx="1088339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i="0" spc="-50" kern="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«Запас» делает вместо человека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15975" y="1383605"/>
            <a:ext cx="7550150" cy="643731"/>
          </a:xfrm>
          <a:prstGeom prst="roundRect">
            <a:avLst>
              <a:gd name="adj" fmla="val 15290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4250" y="1501080"/>
            <a:ext cx="241998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Продукты приходят партиями</a:t>
            </a:r>
            <a:endParaRPr lang="en-US" sz="115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3450" y="1616571"/>
            <a:ext cx="254000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67150" y="1508323"/>
            <a:ext cx="4460621" cy="419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Каждая партия ведётся со своим сроком, первой уходит та, что раньше испортится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15975" y="2122587"/>
            <a:ext cx="7550150" cy="643731"/>
          </a:xfrm>
          <a:prstGeom prst="roundRect">
            <a:avLst>
              <a:gd name="adj" fmla="val 15290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84250" y="2240062"/>
            <a:ext cx="241998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Блюду не хватает ингредиента</a:t>
            </a:r>
            <a:endParaRPr lang="en-US" sz="1150" dirty="0"/>
          </a:p>
        </p:txBody>
      </p:sp>
      <p:pic>
        <p:nvPicPr>
          <p:cNvPr id="1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73450" y="2355552"/>
            <a:ext cx="254000" cy="177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67150" y="2247305"/>
            <a:ext cx="4460621" cy="419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Блюдо само попадает в стоп-лист и выходит из него после поставки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15975" y="2861568"/>
            <a:ext cx="7550150" cy="643731"/>
          </a:xfrm>
          <a:prstGeom prst="roundRect">
            <a:avLst>
              <a:gd name="adj" fmla="val 15290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84250" y="2979043"/>
            <a:ext cx="241998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Часть остатка не успеют продать</a:t>
            </a:r>
            <a:endParaRPr lang="en-US" sz="1150" dirty="0"/>
          </a:p>
        </p:txBody>
      </p:sp>
      <p:pic>
        <p:nvPicPr>
          <p:cNvPr id="16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73450" y="3094534"/>
            <a:ext cx="254000" cy="177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67150" y="2986286"/>
            <a:ext cx="4460621" cy="419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Считается сумма под угрозой, предлагается списать, уценить или переместить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15975" y="3600549"/>
            <a:ext cx="7550150" cy="643731"/>
          </a:xfrm>
          <a:prstGeom prst="roundRect">
            <a:avLst>
              <a:gd name="adj" fmla="val 15290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984250" y="3718024"/>
            <a:ext cx="241998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 официанта пропала связь</a:t>
            </a:r>
            <a:endParaRPr lang="en-US" sz="1150" dirty="0"/>
          </a:p>
        </p:txBody>
      </p:sp>
      <p:pic>
        <p:nvPicPr>
          <p:cNvPr id="20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473450" y="3833515"/>
            <a:ext cx="254000" cy="177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67150" y="3725267"/>
            <a:ext cx="4460621" cy="419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Заказ ждёт в очереди на телефоне и сам уходит на кухню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815975" y="4339530"/>
            <a:ext cx="7550150" cy="826393"/>
          </a:xfrm>
          <a:prstGeom prst="roundRect">
            <a:avLst>
              <a:gd name="adj" fmla="val 11910"/>
            </a:avLst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984250" y="4548287"/>
            <a:ext cx="241998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Срок продуктов поджимает</a:t>
            </a:r>
            <a:endParaRPr lang="en-US" sz="1150" dirty="0"/>
          </a:p>
        </p:txBody>
      </p:sp>
      <p:pic>
        <p:nvPicPr>
          <p:cNvPr id="24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473450" y="4663777"/>
            <a:ext cx="254000" cy="1778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867150" y="4457005"/>
            <a:ext cx="4460621" cy="616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Блюда с этими продуктами идут в горячие, остаток можно выставить на витрину со скидкой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8623300" y="1380430"/>
            <a:ext cx="2755900" cy="1194991"/>
          </a:xfrm>
          <a:prstGeom prst="roundRect">
            <a:avLst>
              <a:gd name="adj" fmla="val 10628"/>
            </a:avLst>
          </a:prstGeom>
          <a:solidFill>
            <a:srgbClr val="0069B4"/>
          </a:solidFill>
          <a:ln/>
        </p:spPr>
      </p:sp>
      <p:sp>
        <p:nvSpPr>
          <p:cNvPr id="27" name="Text 19"/>
          <p:cNvSpPr/>
          <p:nvPr/>
        </p:nvSpPr>
        <p:spPr>
          <a:xfrm>
            <a:off x="8813800" y="1545530"/>
            <a:ext cx="2446147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860</a:t>
            </a:r>
            <a:endParaRPr lang="en-US" sz="3950" dirty="0"/>
          </a:p>
        </p:txBody>
      </p:sp>
      <p:sp>
        <p:nvSpPr>
          <p:cNvPr id="28" name="Text 20"/>
          <p:cNvSpPr/>
          <p:nvPr/>
        </p:nvSpPr>
        <p:spPr>
          <a:xfrm>
            <a:off x="8813800" y="2047180"/>
            <a:ext cx="244614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E3F2F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серверных тестов, база настоящая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8623300" y="2689721"/>
            <a:ext cx="2755900" cy="1194991"/>
          </a:xfrm>
          <a:prstGeom prst="roundRect">
            <a:avLst>
              <a:gd name="adj" fmla="val 10628"/>
            </a:avLst>
          </a:prstGeom>
          <a:solidFill>
            <a:srgbClr val="0069B4"/>
          </a:solidFill>
          <a:ln/>
        </p:spPr>
      </p:sp>
      <p:sp>
        <p:nvSpPr>
          <p:cNvPr id="30" name="Text 22"/>
          <p:cNvSpPr/>
          <p:nvPr/>
        </p:nvSpPr>
        <p:spPr>
          <a:xfrm>
            <a:off x="8813800" y="2854821"/>
            <a:ext cx="2446147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3950" dirty="0"/>
          </a:p>
        </p:txBody>
      </p:sp>
      <p:sp>
        <p:nvSpPr>
          <p:cNvPr id="31" name="Text 23"/>
          <p:cNvSpPr/>
          <p:nvPr/>
        </p:nvSpPr>
        <p:spPr>
          <a:xfrm>
            <a:off x="8813800" y="3356471"/>
            <a:ext cx="244614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E3F2F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ролей, у официанта свой экран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623300" y="3999012"/>
            <a:ext cx="2755900" cy="1013420"/>
          </a:xfrm>
          <a:prstGeom prst="roundRect">
            <a:avLst>
              <a:gd name="adj" fmla="val 12532"/>
            </a:avLst>
          </a:prstGeom>
          <a:solidFill>
            <a:srgbClr val="0069B4"/>
          </a:solidFill>
          <a:ln/>
        </p:spPr>
      </p:sp>
      <p:sp>
        <p:nvSpPr>
          <p:cNvPr id="33" name="Text 25"/>
          <p:cNvSpPr/>
          <p:nvPr/>
        </p:nvSpPr>
        <p:spPr>
          <a:xfrm>
            <a:off x="8813800" y="4164112"/>
            <a:ext cx="2446147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21</a:t>
            </a:r>
            <a:endParaRPr lang="en-US" sz="3950" dirty="0"/>
          </a:p>
        </p:txBody>
      </p:sp>
      <p:sp>
        <p:nvSpPr>
          <p:cNvPr id="34" name="Text 26"/>
          <p:cNvSpPr/>
          <p:nvPr/>
        </p:nvSpPr>
        <p:spPr>
          <a:xfrm>
            <a:off x="8813800" y="4665762"/>
            <a:ext cx="2446147" cy="20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E3F2F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миграция базы данных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D5DEE7"/>
          </a:solidFill>
          <a:ln/>
        </p:spPr>
      </p:sp>
      <p:sp>
        <p:nvSpPr>
          <p:cNvPr id="36" name="Shape 28"/>
          <p:cNvSpPr/>
          <p:nvPr/>
        </p:nvSpPr>
        <p:spPr>
          <a:xfrm>
            <a:off x="812800" y="6527800"/>
            <a:ext cx="1511300" cy="38100"/>
          </a:xfrm>
          <a:prstGeom prst="roundRect">
            <a:avLst>
              <a:gd name="adj" fmla="val 50000"/>
            </a:avLst>
          </a:prstGeom>
          <a:solidFill>
            <a:srgbClr val="0088CC"/>
          </a:solidFill>
          <a:ln/>
        </p:spPr>
      </p:sp>
      <p:sp>
        <p:nvSpPr>
          <p:cNvPr id="37" name="Text 29"/>
          <p:cNvSpPr/>
          <p:nvPr/>
        </p:nvSpPr>
        <p:spPr>
          <a:xfrm>
            <a:off x="812800" y="6230640"/>
            <a:ext cx="220872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10821591" y="6230640"/>
            <a:ext cx="66913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 / 14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27930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6505"/>
            <a:ext cx="7693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10391477" y="406400"/>
            <a:ext cx="987723" cy="322560"/>
          </a:xfrm>
          <a:prstGeom prst="roundRect">
            <a:avLst>
              <a:gd name="adj" fmla="val 50000"/>
            </a:avLst>
          </a:prstGeom>
          <a:solidFill>
            <a:srgbClr val="DCEC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0069B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ОБЗОР</a:t>
            </a:r>
            <a:endParaRPr lang="en-US" sz="11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894060"/>
            <a:ext cx="1088339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i="0" spc="-50" kern="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Деньги под угрозой видны сразу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15975" y="1383605"/>
            <a:ext cx="6534150" cy="4184650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6350">
            <a:solidFill>
              <a:srgbClr val="C9D4DF"/>
            </a:solidFill>
            <a:prstDash val="solid"/>
          </a:ln>
          <a:effectLst>
            <a:outerShdw sx="100000" sy="100000" kx="0" ky="0" algn="bl" rotWithShape="0" blurRad="279400" dist="114300" dir="5400000">
              <a:srgbClr val="111827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9150" y="1386780"/>
            <a:ext cx="6527800" cy="241300"/>
          </a:xfrm>
          <a:custGeom>
            <a:avLst/>
            <a:gdLst/>
            <a:ahLst/>
            <a:cxnLst/>
            <a:rect l="l" t="t" r="r" b="b"/>
            <a:pathLst>
              <a:path w="6527800" h="241300">
                <a:moveTo>
                  <a:pt x="0" y="82550"/>
                </a:moveTo>
                <a:arcTo hR="82550" wR="82550" stAng="10800000" swAng="5400000"/>
                <a:lnTo>
                  <a:pt x="6445250" y="0"/>
                </a:lnTo>
                <a:arcTo hR="82550" wR="82550" stAng="16200000" swAng="5400000"/>
                <a:lnTo>
                  <a:pt x="6527800" y="241300"/>
                </a:lnTo>
                <a:lnTo>
                  <a:pt x="0" y="241300"/>
                </a:lnTo>
                <a:close/>
              </a:path>
            </a:pathLst>
          </a:custGeom>
          <a:solidFill>
            <a:srgbClr val="E4EAF0"/>
          </a:solidFill>
          <a:ln/>
        </p:spPr>
      </p:sp>
      <p:pic>
        <p:nvPicPr>
          <p:cNvPr id="8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0750" y="1466155"/>
            <a:ext cx="82550" cy="82550"/>
          </a:xfrm>
          <a:prstGeom prst="rect">
            <a:avLst/>
          </a:prstGeom>
        </p:spPr>
      </p:pic>
      <p:pic>
        <p:nvPicPr>
          <p:cNvPr id="9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60450" y="1466155"/>
            <a:ext cx="82550" cy="82550"/>
          </a:xfrm>
          <a:prstGeom prst="rect">
            <a:avLst/>
          </a:prstGeom>
        </p:spPr>
      </p:pic>
      <p:pic>
        <p:nvPicPr>
          <p:cNvPr id="10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00150" y="1466155"/>
            <a:ext cx="82550" cy="82550"/>
          </a:xfrm>
          <a:prstGeom prst="rect">
            <a:avLst/>
          </a:prstGeom>
        </p:spPr>
      </p:pic>
      <p:pic>
        <p:nvPicPr>
          <p:cNvPr id="11" name="Image 4" descr="Панель «Обзор»: остатки в деньгах, что требует действий, спасено уценкой">    </p:cNvPr>
          <p:cNvPicPr>
            <a:picLocks noChangeAspect="1"/>
          </p:cNvPicPr>
          <p:nvPr/>
        </p:nvPicPr>
        <p:blipFill>
          <a:blip r:embed="rId5"/>
          <a:srcRect l="0" r="0" t="1751" b="1751"/>
          <a:stretch/>
        </p:blipFill>
        <p:spPr>
          <a:xfrm>
            <a:off x="819150" y="1628080"/>
            <a:ext cx="6527800" cy="3937000"/>
          </a:xfrm>
          <a:custGeom>
            <a:avLst/>
            <a:gdLst/>
            <a:ahLst/>
            <a:cxnLst/>
            <a:rect l="l" t="t" r="r" b="b"/>
            <a:pathLst>
              <a:path w="6527800" h="3937000">
                <a:moveTo>
                  <a:pt x="6527800" y="3854450"/>
                </a:moveTo>
                <a:arcTo wR="82550" hR="82550" stAng="0" swAng="5400000"/>
                <a:lnTo>
                  <a:pt x="82550" y="3937000"/>
                </a:lnTo>
                <a:arcTo wR="82550" hR="82550" stAng="5400000" swAng="5400000"/>
                <a:lnTo>
                  <a:pt x="0" y="0"/>
                </a:lnTo>
                <a:lnTo>
                  <a:pt x="6527800" y="0"/>
                </a:lnTo>
                <a:close/>
              </a:path>
            </a:pathLst>
          </a:custGeom>
        </p:spPr>
      </p:pic>
      <p:sp>
        <p:nvSpPr>
          <p:cNvPr id="12" name="Shape 5"/>
          <p:cNvSpPr/>
          <p:nvPr/>
        </p:nvSpPr>
        <p:spPr>
          <a:xfrm>
            <a:off x="7683500" y="1380430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13" name="Image 5" descr="Char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759700" y="1456630"/>
            <a:ext cx="203200" cy="2032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153400" y="1380430"/>
            <a:ext cx="33225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Склад в деньгах</a:t>
            </a:r>
            <a:endParaRPr lang="en-US" sz="1250" dirty="0"/>
          </a:p>
        </p:txBody>
      </p:sp>
      <p:sp>
        <p:nvSpPr>
          <p:cNvPr id="15" name="Text 7"/>
          <p:cNvSpPr/>
          <p:nvPr/>
        </p:nvSpPr>
        <p:spPr>
          <a:xfrm>
            <a:off x="8153400" y="1628080"/>
            <a:ext cx="3322574" cy="590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Остаток по себестоимости, сумма под угрозой, просрочено и скоро истекает.</a:t>
            </a:r>
            <a:endParaRPr lang="en-US" sz="1100" dirty="0"/>
          </a:p>
        </p:txBody>
      </p:sp>
      <p:sp>
        <p:nvSpPr>
          <p:cNvPr id="16" name="Shape 8"/>
          <p:cNvSpPr/>
          <p:nvPr/>
        </p:nvSpPr>
        <p:spPr>
          <a:xfrm>
            <a:off x="7683500" y="2358727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17" name="Image 6" descr="Warni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759700" y="2434927"/>
            <a:ext cx="203200" cy="2032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153400" y="2358727"/>
            <a:ext cx="33225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требует действий</a:t>
            </a:r>
            <a:endParaRPr lang="en-US" sz="1250" dirty="0"/>
          </a:p>
        </p:txBody>
      </p:sp>
      <p:sp>
        <p:nvSpPr>
          <p:cNvPr id="19" name="Text 10"/>
          <p:cNvSpPr/>
          <p:nvPr/>
        </p:nvSpPr>
        <p:spPr>
          <a:xfrm>
            <a:off x="8153400" y="2606377"/>
            <a:ext cx="3322574" cy="590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Списать, уценить или переместить одной кнопкой у строки, с теми же проверками прав.</a:t>
            </a:r>
            <a:endParaRPr lang="en-US" sz="1100" dirty="0"/>
          </a:p>
        </p:txBody>
      </p:sp>
      <p:sp>
        <p:nvSpPr>
          <p:cNvPr id="20" name="Shape 11"/>
          <p:cNvSpPr/>
          <p:nvPr/>
        </p:nvSpPr>
        <p:spPr>
          <a:xfrm>
            <a:off x="7683500" y="3337024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21" name="Image 7" descr="CheckCircl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759700" y="3413224"/>
            <a:ext cx="203200" cy="2032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153400" y="3337024"/>
            <a:ext cx="33225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Спасено и дефицит</a:t>
            </a:r>
            <a:endParaRPr lang="en-US" sz="1250" dirty="0"/>
          </a:p>
        </p:txBody>
      </p:sp>
      <p:sp>
        <p:nvSpPr>
          <p:cNvPr id="23" name="Text 13"/>
          <p:cNvSpPr/>
          <p:nvPr/>
        </p:nvSpPr>
        <p:spPr>
          <a:xfrm>
            <a:off x="8153400" y="3584674"/>
            <a:ext cx="3322574" cy="77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Сколько выручили с товара, который иначе списали бы, и каких ингредиентов не хватало. Оба отчёта выгружаются в CSV.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D5DEE7"/>
          </a:solidFill>
          <a:ln/>
        </p:spPr>
      </p:sp>
      <p:sp>
        <p:nvSpPr>
          <p:cNvPr id="25" name="Shape 15"/>
          <p:cNvSpPr/>
          <p:nvPr/>
        </p:nvSpPr>
        <p:spPr>
          <a:xfrm>
            <a:off x="812800" y="6527800"/>
            <a:ext cx="2266950" cy="38100"/>
          </a:xfrm>
          <a:prstGeom prst="roundRect">
            <a:avLst>
              <a:gd name="adj" fmla="val 50000"/>
            </a:avLst>
          </a:prstGeom>
          <a:solidFill>
            <a:srgbClr val="0088CC"/>
          </a:solidFill>
          <a:ln/>
        </p:spPr>
      </p:sp>
      <p:sp>
        <p:nvSpPr>
          <p:cNvPr id="26" name="Text 16"/>
          <p:cNvSpPr/>
          <p:nvPr/>
        </p:nvSpPr>
        <p:spPr>
          <a:xfrm>
            <a:off x="812800" y="6230640"/>
            <a:ext cx="220872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10820598" y="6230640"/>
            <a:ext cx="67032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 / 14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27930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6505"/>
            <a:ext cx="7693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9866114" y="406400"/>
            <a:ext cx="1513086" cy="322560"/>
          </a:xfrm>
          <a:prstGeom prst="roundRect">
            <a:avLst>
              <a:gd name="adj" fmla="val 50000"/>
            </a:avLst>
          </a:prstGeom>
          <a:solidFill>
            <a:srgbClr val="DCEC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0069B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СТОП-ЛИСТ</a:t>
            </a:r>
            <a:endParaRPr lang="en-US" sz="11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894060"/>
            <a:ext cx="1088339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i="0" spc="-50" kern="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Стоп-лист собирается сам, прогноз смотрит вперёд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12800" y="1380430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7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9000" y="1456630"/>
            <a:ext cx="203200" cy="20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2700" y="1380430"/>
            <a:ext cx="37673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Автоматически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282700" y="1628080"/>
            <a:ext cx="3767328" cy="77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Блюдо уходит в стоп, когда на порцию не хватает ингредиента, и выходит после прихода. Ручной стоп с причиной тоже есть.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12800" y="2521843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11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9000" y="2598043"/>
            <a:ext cx="203200" cy="20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2700" y="2521843"/>
            <a:ext cx="37673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Прогноз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282700" y="2769493"/>
            <a:ext cx="3767328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Через сколько часов блюдо закончится и какой ингредиент ограничивает.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12800" y="3286224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15" name="Image 3" descr="Lin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9000" y="3362424"/>
            <a:ext cx="203200" cy="203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2700" y="3286224"/>
            <a:ext cx="37673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Поставки в пути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282700" y="3533874"/>
            <a:ext cx="3767328" cy="590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Если товар приедет раньше остановки, прогноз так и пишет. Не успеет, называет дату привоза.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12800" y="4239121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19" name="Image 4" descr="Cha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9000" y="4315321"/>
            <a:ext cx="203200" cy="203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2700" y="4239121"/>
            <a:ext cx="37673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Куда уходит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1282700" y="4486771"/>
            <a:ext cx="3767328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 Telegram, вебхуками на кассы и сообщением официанту.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248275" y="1383605"/>
            <a:ext cx="6127750" cy="4184650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6350">
            <a:solidFill>
              <a:srgbClr val="C9D4DF"/>
            </a:solidFill>
            <a:prstDash val="solid"/>
          </a:ln>
          <a:effectLst>
            <a:outerShdw sx="100000" sy="100000" kx="0" ky="0" algn="bl" rotWithShape="0" blurRad="279400" dist="114300" dir="5400000">
              <a:srgbClr val="111827">
                <a:alpha val="1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251450" y="1386780"/>
            <a:ext cx="6121400" cy="241300"/>
          </a:xfrm>
          <a:custGeom>
            <a:avLst/>
            <a:gdLst/>
            <a:ahLst/>
            <a:cxnLst/>
            <a:rect l="l" t="t" r="r" b="b"/>
            <a:pathLst>
              <a:path w="6121400" h="241300">
                <a:moveTo>
                  <a:pt x="0" y="82550"/>
                </a:moveTo>
                <a:arcTo hR="82550" wR="82550" stAng="10800000" swAng="5400000"/>
                <a:lnTo>
                  <a:pt x="6038850" y="0"/>
                </a:lnTo>
                <a:arcTo hR="82550" wR="82550" stAng="16200000" swAng="5400000"/>
                <a:lnTo>
                  <a:pt x="6121400" y="241300"/>
                </a:lnTo>
                <a:lnTo>
                  <a:pt x="0" y="241300"/>
                </a:lnTo>
                <a:close/>
              </a:path>
            </a:pathLst>
          </a:custGeom>
          <a:solidFill>
            <a:srgbClr val="E4EAF0"/>
          </a:solidFill>
          <a:ln/>
        </p:spPr>
      </p:sp>
      <p:pic>
        <p:nvPicPr>
          <p:cNvPr id="24" name="Image 5" descr="ellips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353050" y="1466155"/>
            <a:ext cx="82550" cy="82550"/>
          </a:xfrm>
          <a:prstGeom prst="rect">
            <a:avLst/>
          </a:prstGeom>
        </p:spPr>
      </p:pic>
      <p:pic>
        <p:nvPicPr>
          <p:cNvPr id="25" name="Image 6" descr="ellip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92750" y="1466155"/>
            <a:ext cx="82550" cy="82550"/>
          </a:xfrm>
          <a:prstGeom prst="rect">
            <a:avLst/>
          </a:prstGeom>
        </p:spPr>
      </p:pic>
      <p:pic>
        <p:nvPicPr>
          <p:cNvPr id="26" name="Image 7" descr="ellips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632450" y="1466155"/>
            <a:ext cx="82550" cy="82550"/>
          </a:xfrm>
          <a:prstGeom prst="rect">
            <a:avLst/>
          </a:prstGeom>
        </p:spPr>
      </p:pic>
      <p:pic>
        <p:nvPicPr>
          <p:cNvPr id="27" name="Image 8" descr="Страница стоп-листа с прогнозом и поставками в пути">    </p:cNvPr>
          <p:cNvPicPr>
            <a:picLocks noChangeAspect="1"/>
          </p:cNvPicPr>
          <p:nvPr/>
        </p:nvPicPr>
        <p:blipFill>
          <a:blip r:embed="rId9"/>
          <a:srcRect l="0" r="0" t="0" b="27076"/>
          <a:stretch/>
        </p:blipFill>
        <p:spPr>
          <a:xfrm>
            <a:off x="5251450" y="1628080"/>
            <a:ext cx="6121400" cy="3937000"/>
          </a:xfrm>
          <a:custGeom>
            <a:avLst/>
            <a:gdLst/>
            <a:ahLst/>
            <a:cxnLst/>
            <a:rect l="l" t="t" r="r" b="b"/>
            <a:pathLst>
              <a:path w="6121400" h="3937000">
                <a:moveTo>
                  <a:pt x="6121400" y="3854450"/>
                </a:moveTo>
                <a:arcTo wR="82550" hR="82550" stAng="0" swAng="5400000"/>
                <a:lnTo>
                  <a:pt x="82550" y="3937000"/>
                </a:lnTo>
                <a:arcTo wR="82550" hR="82550" stAng="5400000" swAng="5400000"/>
                <a:lnTo>
                  <a:pt x="0" y="0"/>
                </a:lnTo>
                <a:lnTo>
                  <a:pt x="6121400" y="0"/>
                </a:lnTo>
                <a:close/>
              </a:path>
            </a:pathLst>
          </a:custGeom>
        </p:spPr>
      </p:pic>
      <p:sp>
        <p:nvSpPr>
          <p:cNvPr id="28" name="Shape 17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D5DEE7"/>
          </a:solidFill>
          <a:ln/>
        </p:spPr>
      </p:sp>
      <p:sp>
        <p:nvSpPr>
          <p:cNvPr id="29" name="Shape 18"/>
          <p:cNvSpPr/>
          <p:nvPr/>
        </p:nvSpPr>
        <p:spPr>
          <a:xfrm>
            <a:off x="812800" y="6527800"/>
            <a:ext cx="3016250" cy="38100"/>
          </a:xfrm>
          <a:prstGeom prst="roundRect">
            <a:avLst>
              <a:gd name="adj" fmla="val 50000"/>
            </a:avLst>
          </a:prstGeom>
          <a:solidFill>
            <a:srgbClr val="0088CC"/>
          </a:solidFill>
          <a:ln/>
        </p:spPr>
      </p:sp>
      <p:sp>
        <p:nvSpPr>
          <p:cNvPr id="30" name="Text 19"/>
          <p:cNvSpPr/>
          <p:nvPr/>
        </p:nvSpPr>
        <p:spPr>
          <a:xfrm>
            <a:off x="812800" y="6230640"/>
            <a:ext cx="220872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10818316" y="6230640"/>
            <a:ext cx="6730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04 / 14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27930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6505"/>
            <a:ext cx="7693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430716" y="406400"/>
            <a:ext cx="2948484" cy="322560"/>
          </a:xfrm>
          <a:prstGeom prst="roundRect">
            <a:avLst>
              <a:gd name="adj" fmla="val 50000"/>
            </a:avLst>
          </a:prstGeom>
          <a:solidFill>
            <a:srgbClr val="DCEC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0069B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ГОРЯЧИЕ ПРЕДЛОЖЕНИЯ</a:t>
            </a:r>
            <a:endParaRPr lang="en-US" sz="11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894060"/>
            <a:ext cx="1088339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i="0" spc="-50" kern="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Приоритет блюда считается в рублях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12800" y="1380430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7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9000" y="1456630"/>
            <a:ext cx="203200" cy="20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2700" y="1380430"/>
            <a:ext cx="40943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Деньги, а не доли остатка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282700" y="1628080"/>
            <a:ext cx="4094353" cy="77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Считается, сколько себестоимости истекающих продуктов блюдо способно израсходовать. Говядина на 850 рублей важнее зелени на 25.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12800" y="2509143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11" name="Image 2" descr="Activit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9000" y="2585343"/>
            <a:ext cx="203200" cy="20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2700" y="2509143"/>
            <a:ext cx="40943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Шкала 0-100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282700" y="2756793"/>
            <a:ext cx="4094353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100 · (1 − e</a:t>
            </a:r>
            <a:r>
              <a:rPr lang="en-US" sz="1100" dirty="0">
                <a:solidFill>
                  <a:srgbClr val="0069B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^(−сумма/300)</a:t>
            </a: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). Блюда ниже 8 в список не попадают.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12800" y="3260824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15" name="Image 3" descr="Lin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9000" y="3337024"/>
            <a:ext cx="203200" cy="203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2700" y="3260824"/>
            <a:ext cx="40943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Общий ингредиент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282700" y="3508474"/>
            <a:ext cx="4094353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Делится по очереди между блюдами, остаток не обещается дважды.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12800" y="4012505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19" name="Image 4" descr="Setting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9000" y="4088705"/>
            <a:ext cx="203200" cy="203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2700" y="4012505"/>
            <a:ext cx="40943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Поправки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1282700" y="4260155"/>
            <a:ext cx="4094353" cy="590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Маржа порции двигает приоритет до 15%, время суток до половины: утреннее блюдо вечером уступает.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565775" y="1383605"/>
            <a:ext cx="5899150" cy="4184650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6350">
            <a:solidFill>
              <a:srgbClr val="C9D4DF"/>
            </a:solidFill>
            <a:prstDash val="solid"/>
          </a:ln>
          <a:effectLst>
            <a:outerShdw sx="100000" sy="100000" kx="0" ky="0" algn="bl" rotWithShape="0" blurRad="279400" dist="114300" dir="5400000">
              <a:srgbClr val="111827">
                <a:alpha val="1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568950" y="1386780"/>
            <a:ext cx="5892800" cy="241300"/>
          </a:xfrm>
          <a:custGeom>
            <a:avLst/>
            <a:gdLst/>
            <a:ahLst/>
            <a:cxnLst/>
            <a:rect l="l" t="t" r="r" b="b"/>
            <a:pathLst>
              <a:path w="5892800" h="241300">
                <a:moveTo>
                  <a:pt x="0" y="82550"/>
                </a:moveTo>
                <a:arcTo hR="82550" wR="82550" stAng="10800000" swAng="5400000"/>
                <a:lnTo>
                  <a:pt x="5810250" y="0"/>
                </a:lnTo>
                <a:arcTo hR="82550" wR="82550" stAng="16200000" swAng="5400000"/>
                <a:lnTo>
                  <a:pt x="5892800" y="241300"/>
                </a:lnTo>
                <a:lnTo>
                  <a:pt x="0" y="241300"/>
                </a:lnTo>
                <a:close/>
              </a:path>
            </a:pathLst>
          </a:custGeom>
          <a:solidFill>
            <a:srgbClr val="E4EAF0"/>
          </a:solidFill>
          <a:ln/>
        </p:spPr>
      </p:sp>
      <p:pic>
        <p:nvPicPr>
          <p:cNvPr id="24" name="Image 5" descr="ellips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670550" y="1466155"/>
            <a:ext cx="82550" cy="82550"/>
          </a:xfrm>
          <a:prstGeom prst="rect">
            <a:avLst/>
          </a:prstGeom>
        </p:spPr>
      </p:pic>
      <p:pic>
        <p:nvPicPr>
          <p:cNvPr id="25" name="Image 6" descr="ellip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810250" y="1466155"/>
            <a:ext cx="82550" cy="82550"/>
          </a:xfrm>
          <a:prstGeom prst="rect">
            <a:avLst/>
          </a:prstGeom>
        </p:spPr>
      </p:pic>
      <p:pic>
        <p:nvPicPr>
          <p:cNvPr id="26" name="Image 7" descr="ellips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949950" y="1466155"/>
            <a:ext cx="82550" cy="82550"/>
          </a:xfrm>
          <a:prstGeom prst="rect">
            <a:avLst/>
          </a:prstGeom>
        </p:spPr>
      </p:pic>
      <p:pic>
        <p:nvPicPr>
          <p:cNvPr id="27" name="Image 8" descr="Экран горячих предложений: приоритет, маржа, доля продаж дня впереди">    </p:cNvPr>
          <p:cNvPicPr>
            <a:picLocks noChangeAspect="1"/>
          </p:cNvPicPr>
          <p:nvPr/>
        </p:nvPicPr>
        <p:blipFill>
          <a:blip r:embed="rId9"/>
          <a:srcRect l="3226" r="3226" t="0" b="0"/>
          <a:stretch/>
        </p:blipFill>
        <p:spPr>
          <a:xfrm>
            <a:off x="5568950" y="1628080"/>
            <a:ext cx="5892800" cy="3937000"/>
          </a:xfrm>
          <a:custGeom>
            <a:avLst/>
            <a:gdLst/>
            <a:ahLst/>
            <a:cxnLst/>
            <a:rect l="l" t="t" r="r" b="b"/>
            <a:pathLst>
              <a:path w="5892800" h="3937000">
                <a:moveTo>
                  <a:pt x="5892800" y="3854450"/>
                </a:moveTo>
                <a:arcTo wR="82550" hR="82550" stAng="0" swAng="5400000"/>
                <a:lnTo>
                  <a:pt x="82550" y="3937000"/>
                </a:lnTo>
                <a:arcTo wR="82550" hR="82550" stAng="5400000" swAng="5400000"/>
                <a:lnTo>
                  <a:pt x="0" y="0"/>
                </a:lnTo>
                <a:lnTo>
                  <a:pt x="5892800" y="0"/>
                </a:lnTo>
                <a:close/>
              </a:path>
            </a:pathLst>
          </a:custGeom>
        </p:spPr>
      </p:pic>
      <p:sp>
        <p:nvSpPr>
          <p:cNvPr id="28" name="Shape 17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D5DEE7"/>
          </a:solidFill>
          <a:ln/>
        </p:spPr>
      </p:sp>
      <p:sp>
        <p:nvSpPr>
          <p:cNvPr id="29" name="Shape 18"/>
          <p:cNvSpPr/>
          <p:nvPr/>
        </p:nvSpPr>
        <p:spPr>
          <a:xfrm>
            <a:off x="812800" y="6527800"/>
            <a:ext cx="3771900" cy="38100"/>
          </a:xfrm>
          <a:prstGeom prst="roundRect">
            <a:avLst>
              <a:gd name="adj" fmla="val 50000"/>
            </a:avLst>
          </a:prstGeom>
          <a:solidFill>
            <a:srgbClr val="0088CC"/>
          </a:solidFill>
          <a:ln/>
        </p:spPr>
      </p:sp>
      <p:sp>
        <p:nvSpPr>
          <p:cNvPr id="30" name="Text 19"/>
          <p:cNvSpPr/>
          <p:nvPr/>
        </p:nvSpPr>
        <p:spPr>
          <a:xfrm>
            <a:off x="812800" y="6230640"/>
            <a:ext cx="220872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10824964" y="6230640"/>
            <a:ext cx="665083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05 / 14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27930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6505"/>
            <a:ext cx="7693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9689703" y="406400"/>
            <a:ext cx="1689497" cy="322560"/>
          </a:xfrm>
          <a:prstGeom prst="roundRect">
            <a:avLst>
              <a:gd name="adj" fmla="val 50000"/>
            </a:avLst>
          </a:prstGeom>
          <a:solidFill>
            <a:srgbClr val="DCEC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0069B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ЗАЛ И КУХНЯ</a:t>
            </a:r>
            <a:endParaRPr lang="en-US" sz="11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894060"/>
            <a:ext cx="1088339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i="0" spc="-50" kern="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Официант работает и без связи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12800" y="1380430"/>
            <a:ext cx="1714500" cy="36830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279400" dist="114300" dir="5400000">
              <a:srgbClr val="111827">
                <a:alpha val="28000"/>
              </a:srgbClr>
            </a:outerShdw>
          </a:effectLst>
        </p:spPr>
      </p:sp>
      <p:pic>
        <p:nvPicPr>
          <p:cNvPr id="7" name="Image 1" descr="Телефон официанта: сообщение, что блюдо ушло в стоп-лист">    </p:cNvPr>
          <p:cNvPicPr>
            <a:picLocks noChangeAspect="1"/>
          </p:cNvPicPr>
          <p:nvPr/>
        </p:nvPicPr>
        <p:blipFill>
          <a:blip r:embed="rId2"/>
          <a:srcRect l="1694" r="1694" t="0" b="0"/>
          <a:stretch/>
        </p:blipFill>
        <p:spPr>
          <a:xfrm>
            <a:off x="876300" y="1443930"/>
            <a:ext cx="1587500" cy="3556000"/>
          </a:xfrm>
          <a:prstGeom prst="roundRect">
            <a:avLst>
              <a:gd name="adj" fmla="val 10800"/>
            </a:avLst>
          </a:prstGeom>
        </p:spPr>
      </p:pic>
      <p:sp>
        <p:nvSpPr>
          <p:cNvPr id="8" name="Shape 4"/>
          <p:cNvSpPr/>
          <p:nvPr/>
        </p:nvSpPr>
        <p:spPr>
          <a:xfrm>
            <a:off x="2667000" y="1380430"/>
            <a:ext cx="1714500" cy="368300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279400" dist="114300" dir="5400000">
              <a:srgbClr val="111827">
                <a:alpha val="28000"/>
              </a:srgbClr>
            </a:outerShdw>
          </a:effectLst>
        </p:spPr>
      </p:sp>
      <p:pic>
        <p:nvPicPr>
          <p:cNvPr id="9" name="Image 2" descr="Телефон официанта без связи: заказ в очереди">    </p:cNvPr>
          <p:cNvPicPr>
            <a:picLocks noChangeAspect="1"/>
          </p:cNvPicPr>
          <p:nvPr/>
        </p:nvPicPr>
        <p:blipFill>
          <a:blip r:embed="rId3"/>
          <a:srcRect l="1694" r="1694" t="0" b="0"/>
          <a:stretch/>
        </p:blipFill>
        <p:spPr>
          <a:xfrm>
            <a:off x="2730500" y="1443930"/>
            <a:ext cx="1587500" cy="3556000"/>
          </a:xfrm>
          <a:prstGeom prst="roundRect">
            <a:avLst>
              <a:gd name="adj" fmla="val 10800"/>
            </a:avLst>
          </a:prstGeom>
        </p:spPr>
      </p:pic>
      <p:sp>
        <p:nvSpPr>
          <p:cNvPr id="10" name="Shape 5"/>
          <p:cNvSpPr/>
          <p:nvPr/>
        </p:nvSpPr>
        <p:spPr>
          <a:xfrm>
            <a:off x="4664075" y="1383605"/>
            <a:ext cx="3041650" cy="2127250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6350">
            <a:solidFill>
              <a:srgbClr val="C9D4DF"/>
            </a:solidFill>
            <a:prstDash val="solid"/>
          </a:ln>
          <a:effectLst>
            <a:outerShdw sx="100000" sy="100000" kx="0" ky="0" algn="bl" rotWithShape="0" blurRad="279400" dist="114300" dir="5400000">
              <a:srgbClr val="111827">
                <a:alpha val="1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667250" y="1386780"/>
            <a:ext cx="3035300" cy="215900"/>
          </a:xfrm>
          <a:custGeom>
            <a:avLst/>
            <a:gdLst/>
            <a:ahLst/>
            <a:cxnLst/>
            <a:rect l="l" t="t" r="r" b="b"/>
            <a:pathLst>
              <a:path w="3035300" h="215900">
                <a:moveTo>
                  <a:pt x="0" y="82550"/>
                </a:moveTo>
                <a:arcTo hR="82550" wR="82550" stAng="10800000" swAng="5400000"/>
                <a:lnTo>
                  <a:pt x="2952750" y="0"/>
                </a:lnTo>
                <a:arcTo hR="82550" wR="82550" stAng="16200000" swAng="5400000"/>
                <a:lnTo>
                  <a:pt x="3035300" y="215900"/>
                </a:lnTo>
                <a:lnTo>
                  <a:pt x="0" y="215900"/>
                </a:lnTo>
                <a:close/>
              </a:path>
            </a:pathLst>
          </a:custGeom>
          <a:solidFill>
            <a:srgbClr val="E4EAF0"/>
          </a:solidFill>
          <a:ln/>
        </p:spPr>
      </p:sp>
      <p:pic>
        <p:nvPicPr>
          <p:cNvPr id="12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56150" y="1456630"/>
            <a:ext cx="76200" cy="76200"/>
          </a:xfrm>
          <a:prstGeom prst="rect">
            <a:avLst/>
          </a:prstGeom>
        </p:spPr>
      </p:pic>
      <p:pic>
        <p:nvPicPr>
          <p:cNvPr id="13" name="Image 4" descr="ellip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89500" y="1456630"/>
            <a:ext cx="76200" cy="76200"/>
          </a:xfrm>
          <a:prstGeom prst="rect">
            <a:avLst/>
          </a:prstGeom>
        </p:spPr>
      </p:pic>
      <p:pic>
        <p:nvPicPr>
          <p:cNvPr id="14" name="Image 5" descr="ellips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022850" y="1456630"/>
            <a:ext cx="76200" cy="76200"/>
          </a:xfrm>
          <a:prstGeom prst="rect">
            <a:avLst/>
          </a:prstGeom>
        </p:spPr>
      </p:pic>
      <p:pic>
        <p:nvPicPr>
          <p:cNvPr id="15" name="Image 6" descr="Экран кухни: заказы с цветом по времени ожидания">    </p:cNvPr>
          <p:cNvPicPr>
            <a:picLocks noChangeAspect="1"/>
          </p:cNvPicPr>
          <p:nvPr/>
        </p:nvPicPr>
        <p:blipFill>
          <a:blip r:embed="rId7"/>
          <a:srcRect l="208" r="208" t="0" b="0"/>
          <a:stretch/>
        </p:blipFill>
        <p:spPr>
          <a:xfrm>
            <a:off x="4667250" y="1602680"/>
            <a:ext cx="3035300" cy="1905000"/>
          </a:xfrm>
          <a:custGeom>
            <a:avLst/>
            <a:gdLst/>
            <a:ahLst/>
            <a:cxnLst/>
            <a:rect l="l" t="t" r="r" b="b"/>
            <a:pathLst>
              <a:path w="3035300" h="1905000">
                <a:moveTo>
                  <a:pt x="3035300" y="1822450"/>
                </a:moveTo>
                <a:arcTo wR="82550" hR="82550" stAng="0" swAng="5400000"/>
                <a:lnTo>
                  <a:pt x="82550" y="1905000"/>
                </a:lnTo>
                <a:arcTo wR="82550" hR="82550" stAng="5400000" swAng="5400000"/>
                <a:lnTo>
                  <a:pt x="0" y="0"/>
                </a:lnTo>
                <a:lnTo>
                  <a:pt x="3035300" y="0"/>
                </a:lnTo>
                <a:close/>
              </a:path>
            </a:pathLst>
          </a:custGeom>
        </p:spPr>
      </p:pic>
      <p:sp>
        <p:nvSpPr>
          <p:cNvPr id="16" name="Shape 7"/>
          <p:cNvSpPr/>
          <p:nvPr/>
        </p:nvSpPr>
        <p:spPr>
          <a:xfrm>
            <a:off x="7902575" y="1380430"/>
            <a:ext cx="0" cy="902097"/>
          </a:xfrm>
          <a:prstGeom prst="line">
            <a:avLst/>
          </a:prstGeom>
          <a:noFill/>
          <a:ln w="31750">
            <a:solidFill>
              <a:srgbClr val="0088CC"/>
            </a:solidFill>
            <a:prstDash val="solid"/>
          </a:ln>
        </p:spPr>
      </p:sp>
      <p:sp>
        <p:nvSpPr>
          <p:cNvPr id="17" name="Text 8"/>
          <p:cNvSpPr/>
          <p:nvPr/>
        </p:nvSpPr>
        <p:spPr>
          <a:xfrm>
            <a:off x="8045450" y="1418530"/>
            <a:ext cx="31721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Кухня</a:t>
            </a:r>
            <a:endParaRPr lang="en-US" sz="1250" dirty="0"/>
          </a:p>
        </p:txBody>
      </p:sp>
      <p:sp>
        <p:nvSpPr>
          <p:cNvPr id="18" name="Text 9"/>
          <p:cNvSpPr/>
          <p:nvPr/>
        </p:nvSpPr>
        <p:spPr>
          <a:xfrm>
            <a:off x="8045450" y="1678880"/>
            <a:ext cx="3172143" cy="590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Цвет карточки по времени ожидания, отсчёт от момента, когда заказ приняли.</a:t>
            </a:r>
            <a:endParaRPr lang="en-US" sz="1100" dirty="0"/>
          </a:p>
        </p:txBody>
      </p:sp>
      <p:sp>
        <p:nvSpPr>
          <p:cNvPr id="19" name="Shape 10"/>
          <p:cNvSpPr/>
          <p:nvPr/>
        </p:nvSpPr>
        <p:spPr>
          <a:xfrm>
            <a:off x="4676775" y="3641030"/>
            <a:ext cx="0" cy="713581"/>
          </a:xfrm>
          <a:prstGeom prst="line">
            <a:avLst/>
          </a:prstGeom>
          <a:noFill/>
          <a:ln w="31750">
            <a:solidFill>
              <a:srgbClr val="0088CC"/>
            </a:solidFill>
            <a:prstDash val="solid"/>
          </a:ln>
        </p:spPr>
      </p:sp>
      <p:sp>
        <p:nvSpPr>
          <p:cNvPr id="20" name="Text 11"/>
          <p:cNvSpPr/>
          <p:nvPr/>
        </p:nvSpPr>
        <p:spPr>
          <a:xfrm>
            <a:off x="4819650" y="3679130"/>
            <a:ext cx="64947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Официант</a:t>
            </a:r>
            <a:endParaRPr lang="en-US" sz="1250" dirty="0"/>
          </a:p>
        </p:txBody>
      </p:sp>
      <p:sp>
        <p:nvSpPr>
          <p:cNvPr id="21" name="Text 12"/>
          <p:cNvSpPr/>
          <p:nvPr/>
        </p:nvSpPr>
        <p:spPr>
          <a:xfrm>
            <a:off x="4819650" y="3939480"/>
            <a:ext cx="6494717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Свой экран на телефоне: заказ, мои заказы, горячее, стоп-лист. Блюдо из стопа выбрать нельзя, о новом стопе приходит сообщение.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4676775" y="4481612"/>
            <a:ext cx="0" cy="902097"/>
          </a:xfrm>
          <a:prstGeom prst="line">
            <a:avLst/>
          </a:prstGeom>
          <a:noFill/>
          <a:ln w="31750">
            <a:solidFill>
              <a:srgbClr val="0088CC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4819650" y="4519712"/>
            <a:ext cx="64947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Без связи</a:t>
            </a:r>
            <a:endParaRPr lang="en-US" sz="1250" dirty="0"/>
          </a:p>
        </p:txBody>
      </p:sp>
      <p:sp>
        <p:nvSpPr>
          <p:cNvPr id="24" name="Text 15"/>
          <p:cNvSpPr/>
          <p:nvPr/>
        </p:nvSpPr>
        <p:spPr>
          <a:xfrm>
            <a:off x="4819650" y="4780062"/>
            <a:ext cx="6494717" cy="590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Меню и стоп-лист хранятся на телефоне, заказ уходит в очередь и отправляется сам, без дубля. Если блюдо успело уйти в стоп, сервер откажет и официант увидит причину.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D5DEE7"/>
          </a:solidFill>
          <a:ln/>
        </p:spPr>
      </p:sp>
      <p:sp>
        <p:nvSpPr>
          <p:cNvPr id="26" name="Shape 17"/>
          <p:cNvSpPr/>
          <p:nvPr/>
        </p:nvSpPr>
        <p:spPr>
          <a:xfrm>
            <a:off x="812800" y="6527800"/>
            <a:ext cx="4527550" cy="38100"/>
          </a:xfrm>
          <a:prstGeom prst="roundRect">
            <a:avLst>
              <a:gd name="adj" fmla="val 50000"/>
            </a:avLst>
          </a:prstGeom>
          <a:solidFill>
            <a:srgbClr val="0088CC"/>
          </a:solidFill>
          <a:ln/>
        </p:spPr>
      </p:sp>
      <p:sp>
        <p:nvSpPr>
          <p:cNvPr id="27" name="Text 18"/>
          <p:cNvSpPr/>
          <p:nvPr/>
        </p:nvSpPr>
        <p:spPr>
          <a:xfrm>
            <a:off x="812800" y="6230640"/>
            <a:ext cx="220872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10817920" y="6230640"/>
            <a:ext cx="67353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06 / 14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27930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6505"/>
            <a:ext cx="7693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10060583" y="406400"/>
            <a:ext cx="1318617" cy="322560"/>
          </a:xfrm>
          <a:prstGeom prst="roundRect">
            <a:avLst>
              <a:gd name="adj" fmla="val 50000"/>
            </a:avLst>
          </a:prstGeom>
          <a:solidFill>
            <a:srgbClr val="DCEC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0069B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РЕШЕНИЯ</a:t>
            </a:r>
            <a:endParaRPr lang="en-US" sz="11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894060"/>
            <a:ext cx="1088339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i="0" spc="-50" kern="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Проиграть решение заранее и спросить словами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15975" y="1383605"/>
            <a:ext cx="5099050" cy="2774950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6350">
            <a:solidFill>
              <a:srgbClr val="C9D4DF"/>
            </a:solidFill>
            <a:prstDash val="solid"/>
          </a:ln>
          <a:effectLst>
            <a:outerShdw sx="100000" sy="100000" kx="0" ky="0" algn="bl" rotWithShape="0" blurRad="279400" dist="114300" dir="5400000">
              <a:srgbClr val="111827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9150" y="1386780"/>
            <a:ext cx="5092700" cy="228600"/>
          </a:xfrm>
          <a:custGeom>
            <a:avLst/>
            <a:gdLst/>
            <a:ahLst/>
            <a:cxnLst/>
            <a:rect l="l" t="t" r="r" b="b"/>
            <a:pathLst>
              <a:path w="5092700" h="228600">
                <a:moveTo>
                  <a:pt x="0" y="82550"/>
                </a:moveTo>
                <a:arcTo hR="82550" wR="82550" stAng="10800000" swAng="5400000"/>
                <a:lnTo>
                  <a:pt x="5010150" y="0"/>
                </a:lnTo>
                <a:arcTo hR="82550" wR="82550" stAng="16200000" swAng="5400000"/>
                <a:lnTo>
                  <a:pt x="509270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E4EAF0"/>
          </a:solidFill>
          <a:ln/>
        </p:spPr>
      </p:sp>
      <p:pic>
        <p:nvPicPr>
          <p:cNvPr id="8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0750" y="1459805"/>
            <a:ext cx="82550" cy="82550"/>
          </a:xfrm>
          <a:prstGeom prst="rect">
            <a:avLst/>
          </a:prstGeom>
        </p:spPr>
      </p:pic>
      <p:pic>
        <p:nvPicPr>
          <p:cNvPr id="9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60450" y="1459805"/>
            <a:ext cx="82550" cy="82550"/>
          </a:xfrm>
          <a:prstGeom prst="rect">
            <a:avLst/>
          </a:prstGeom>
        </p:spPr>
      </p:pic>
      <p:pic>
        <p:nvPicPr>
          <p:cNvPr id="10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00150" y="1459805"/>
            <a:ext cx="82550" cy="82550"/>
          </a:xfrm>
          <a:prstGeom prst="rect">
            <a:avLst/>
          </a:prstGeom>
        </p:spPr>
      </p:pic>
      <p:pic>
        <p:nvPicPr>
          <p:cNvPr id="11" name="Image 4" descr="Песочница «Что если»: сценарий из двух шагов и сравнение показателей до и после">    </p:cNvPr>
          <p:cNvPicPr>
            <a:picLocks noChangeAspect="1"/>
          </p:cNvPicPr>
          <p:nvPr/>
        </p:nvPicPr>
        <p:blipFill>
          <a:blip r:embed="rId5"/>
          <a:srcRect l="0" r="0" t="0" b="45508"/>
          <a:stretch/>
        </p:blipFill>
        <p:spPr>
          <a:xfrm>
            <a:off x="819150" y="1615380"/>
            <a:ext cx="5092700" cy="2540000"/>
          </a:xfrm>
          <a:custGeom>
            <a:avLst/>
            <a:gdLst/>
            <a:ahLst/>
            <a:cxnLst/>
            <a:rect l="l" t="t" r="r" b="b"/>
            <a:pathLst>
              <a:path w="5092700" h="2540000">
                <a:moveTo>
                  <a:pt x="5092700" y="2457450"/>
                </a:moveTo>
                <a:arcTo wR="82550" hR="82550" stAng="0" swAng="5400000"/>
                <a:lnTo>
                  <a:pt x="82550" y="2540000"/>
                </a:lnTo>
                <a:arcTo wR="82550" hR="82550" stAng="5400000" swAng="5400000"/>
                <a:lnTo>
                  <a:pt x="0" y="0"/>
                </a:lnTo>
                <a:lnTo>
                  <a:pt x="5092700" y="0"/>
                </a:lnTo>
                <a:close/>
              </a:path>
            </a:pathLst>
          </a:custGeom>
        </p:spPr>
      </p:pic>
      <p:sp>
        <p:nvSpPr>
          <p:cNvPr id="12" name="Shape 5"/>
          <p:cNvSpPr/>
          <p:nvPr/>
        </p:nvSpPr>
        <p:spPr>
          <a:xfrm>
            <a:off x="812800" y="4288730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13" name="Image 5" descr="Lightbulb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9000" y="4364930"/>
            <a:ext cx="203200" cy="2032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82700" y="4288730"/>
            <a:ext cx="47745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если</a:t>
            </a:r>
            <a:endParaRPr lang="en-US" sz="1250" dirty="0"/>
          </a:p>
        </p:txBody>
      </p:sp>
      <p:sp>
        <p:nvSpPr>
          <p:cNvPr id="15" name="Text 7"/>
          <p:cNvSpPr/>
          <p:nvPr/>
        </p:nvSpPr>
        <p:spPr>
          <a:xfrm>
            <a:off x="1282700" y="4536380"/>
            <a:ext cx="4774565" cy="77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Списание, поставка, перемещение, продажа блюд или рост спроса проигрываются на копии данных. Видно, как изменятся деньги под угрозой и стоп-лист. В базу ничего не пишется.</a:t>
            </a:r>
            <a:endParaRPr lang="en-US" sz="1100" dirty="0"/>
          </a:p>
        </p:txBody>
      </p:sp>
      <p:sp>
        <p:nvSpPr>
          <p:cNvPr id="16" name="Shape 8"/>
          <p:cNvSpPr/>
          <p:nvPr/>
        </p:nvSpPr>
        <p:spPr>
          <a:xfrm>
            <a:off x="6276975" y="1383605"/>
            <a:ext cx="5099050" cy="2774950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6350">
            <a:solidFill>
              <a:srgbClr val="C9D4DF"/>
            </a:solidFill>
            <a:prstDash val="solid"/>
          </a:ln>
          <a:effectLst>
            <a:outerShdw sx="100000" sy="100000" kx="0" ky="0" algn="bl" rotWithShape="0" blurRad="279400" dist="114300" dir="5400000">
              <a:srgbClr val="111827">
                <a:alpha val="18000"/>
              </a:srgbClr>
            </a:outerShdw>
          </a:effectLst>
        </p:spPr>
      </p:sp>
      <p:sp>
        <p:nvSpPr>
          <p:cNvPr id="17" name="Shape 9"/>
          <p:cNvSpPr/>
          <p:nvPr/>
        </p:nvSpPr>
        <p:spPr>
          <a:xfrm>
            <a:off x="6280150" y="1386780"/>
            <a:ext cx="5092700" cy="228600"/>
          </a:xfrm>
          <a:custGeom>
            <a:avLst/>
            <a:gdLst/>
            <a:ahLst/>
            <a:cxnLst/>
            <a:rect l="l" t="t" r="r" b="b"/>
            <a:pathLst>
              <a:path w="5092700" h="228600">
                <a:moveTo>
                  <a:pt x="0" y="82550"/>
                </a:moveTo>
                <a:arcTo hR="82550" wR="82550" stAng="10800000" swAng="5400000"/>
                <a:lnTo>
                  <a:pt x="5010150" y="0"/>
                </a:lnTo>
                <a:arcTo hR="82550" wR="82550" stAng="16200000" swAng="5400000"/>
                <a:lnTo>
                  <a:pt x="509270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E4EAF0"/>
          </a:solidFill>
          <a:ln/>
        </p:spPr>
      </p:sp>
      <p:pic>
        <p:nvPicPr>
          <p:cNvPr id="18" name="Image 6" descr="ellip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81750" y="1459805"/>
            <a:ext cx="82550" cy="82550"/>
          </a:xfrm>
          <a:prstGeom prst="rect">
            <a:avLst/>
          </a:prstGeom>
        </p:spPr>
      </p:pic>
      <p:pic>
        <p:nvPicPr>
          <p:cNvPr id="19" name="Image 7" descr="ellips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521450" y="1459805"/>
            <a:ext cx="82550" cy="82550"/>
          </a:xfrm>
          <a:prstGeom prst="rect">
            <a:avLst/>
          </a:prstGeom>
        </p:spPr>
      </p:pic>
      <p:pic>
        <p:nvPicPr>
          <p:cNvPr id="20" name="Image 8" descr="ellips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661150" y="1459805"/>
            <a:ext cx="82550" cy="82550"/>
          </a:xfrm>
          <a:prstGeom prst="rect">
            <a:avLst/>
          </a:prstGeom>
        </p:spPr>
      </p:pic>
      <p:pic>
        <p:nvPicPr>
          <p:cNvPr id="21" name="Image 9" descr="Помощник отвечает на вопросы про стоп-лист и остатки">    </p:cNvPr>
          <p:cNvPicPr>
            <a:picLocks noChangeAspect="1"/>
          </p:cNvPicPr>
          <p:nvPr/>
        </p:nvPicPr>
        <p:blipFill>
          <a:blip r:embed="rId10"/>
          <a:srcRect l="0" r="0" t="10100" b="10100"/>
          <a:stretch/>
        </p:blipFill>
        <p:spPr>
          <a:xfrm>
            <a:off x="6280150" y="1615380"/>
            <a:ext cx="5092700" cy="2540000"/>
          </a:xfrm>
          <a:custGeom>
            <a:avLst/>
            <a:gdLst/>
            <a:ahLst/>
            <a:cxnLst/>
            <a:rect l="l" t="t" r="r" b="b"/>
            <a:pathLst>
              <a:path w="5092700" h="2540000">
                <a:moveTo>
                  <a:pt x="5092700" y="2457450"/>
                </a:moveTo>
                <a:arcTo wR="82550" hR="82550" stAng="0" swAng="5400000"/>
                <a:lnTo>
                  <a:pt x="82550" y="2540000"/>
                </a:lnTo>
                <a:arcTo wR="82550" hR="82550" stAng="5400000" swAng="5400000"/>
                <a:lnTo>
                  <a:pt x="0" y="0"/>
                </a:lnTo>
                <a:lnTo>
                  <a:pt x="5092700" y="0"/>
                </a:lnTo>
                <a:close/>
              </a:path>
            </a:pathLst>
          </a:custGeom>
        </p:spPr>
      </p:pic>
      <p:sp>
        <p:nvSpPr>
          <p:cNvPr id="22" name="Shape 10"/>
          <p:cNvSpPr/>
          <p:nvPr/>
        </p:nvSpPr>
        <p:spPr>
          <a:xfrm>
            <a:off x="6273800" y="4288730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DCECF7"/>
          </a:solidFill>
          <a:ln/>
        </p:spPr>
      </p:sp>
      <p:pic>
        <p:nvPicPr>
          <p:cNvPr id="23" name="Image 10" descr="Chat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350000" y="4364930"/>
            <a:ext cx="203200" cy="2032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6743700" y="4288730"/>
            <a:ext cx="47745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Помощник</a:t>
            </a:r>
            <a:endParaRPr lang="en-US" sz="1250" dirty="0"/>
          </a:p>
        </p:txBody>
      </p:sp>
      <p:sp>
        <p:nvSpPr>
          <p:cNvPr id="25" name="Text 12"/>
          <p:cNvSpPr/>
          <p:nvPr/>
        </p:nvSpPr>
        <p:spPr>
          <a:xfrm>
            <a:off x="6743700" y="4536380"/>
            <a:ext cx="4774565" cy="77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Вопрос обычными словами. GigaChat выбирает готовый запрос, а ответ собирается из данных с правами спрашивающего. Изменить данные помощник не может.</a:t>
            </a:r>
            <a:endParaRPr lang="en-US" sz="1100" dirty="0"/>
          </a:p>
        </p:txBody>
      </p:sp>
      <p:sp>
        <p:nvSpPr>
          <p:cNvPr id="26" name="Shape 13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D5DEE7"/>
          </a:solidFill>
          <a:ln/>
        </p:spPr>
      </p:sp>
      <p:sp>
        <p:nvSpPr>
          <p:cNvPr id="27" name="Shape 14"/>
          <p:cNvSpPr/>
          <p:nvPr/>
        </p:nvSpPr>
        <p:spPr>
          <a:xfrm>
            <a:off x="812800" y="6527800"/>
            <a:ext cx="5283200" cy="38100"/>
          </a:xfrm>
          <a:prstGeom prst="roundRect">
            <a:avLst>
              <a:gd name="adj" fmla="val 50000"/>
            </a:avLst>
          </a:prstGeom>
          <a:solidFill>
            <a:srgbClr val="0088CC"/>
          </a:solidFill>
          <a:ln/>
        </p:spPr>
      </p:sp>
      <p:sp>
        <p:nvSpPr>
          <p:cNvPr id="28" name="Text 15"/>
          <p:cNvSpPr/>
          <p:nvPr/>
        </p:nvSpPr>
        <p:spPr>
          <a:xfrm>
            <a:off x="812800" y="6230640"/>
            <a:ext cx="220872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100" dirty="0"/>
          </a:p>
        </p:txBody>
      </p:sp>
      <p:sp>
        <p:nvSpPr>
          <p:cNvPr id="29" name="Text 16"/>
          <p:cNvSpPr/>
          <p:nvPr/>
        </p:nvSpPr>
        <p:spPr>
          <a:xfrm>
            <a:off x="10835084" y="6230640"/>
            <a:ext cx="65293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07 / 14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27930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6505"/>
            <a:ext cx="7693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9264650" y="406400"/>
            <a:ext cx="2114550" cy="322560"/>
          </a:xfrm>
          <a:prstGeom prst="roundRect">
            <a:avLst>
              <a:gd name="adj" fmla="val 50000"/>
            </a:avLst>
          </a:prstGeom>
          <a:solidFill>
            <a:srgbClr val="DCEC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0069B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УЦЕНКА И БРОНЬ</a:t>
            </a:r>
            <a:endParaRPr lang="en-US" sz="11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894060"/>
            <a:ext cx="1088339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i="0" spc="-50" kern="0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Витрина «Спаси продукты»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12800" y="1380430"/>
            <a:ext cx="330200" cy="330200"/>
          </a:xfrm>
          <a:prstGeom prst="roundRect">
            <a:avLst>
              <a:gd name="adj" fmla="val 28846"/>
            </a:avLst>
          </a:prstGeom>
          <a:solidFill>
            <a:srgbClr val="DCECF7"/>
          </a:solidFill>
          <a:ln/>
        </p:spPr>
      </p:sp>
      <p:pic>
        <p:nvPicPr>
          <p:cNvPr id="7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2650" y="1450280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4600" y="1380430"/>
            <a:ext cx="26946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Гость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244600" y="1628080"/>
            <a:ext cx="2694686" cy="967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Публичная страница без входа: товар со скидкой, остаток, срок. Бронь бесплатная, на кассе называется код.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12800" y="2710359"/>
            <a:ext cx="330200" cy="330200"/>
          </a:xfrm>
          <a:prstGeom prst="roundRect">
            <a:avLst>
              <a:gd name="adj" fmla="val 28846"/>
            </a:avLst>
          </a:prstGeom>
          <a:solidFill>
            <a:srgbClr val="DCECF7"/>
          </a:solidFill>
          <a:ln/>
        </p:spPr>
      </p:sp>
      <p:pic>
        <p:nvPicPr>
          <p:cNvPr id="11" name="Image 2" descr="Too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2650" y="2780209"/>
            <a:ext cx="190500" cy="190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44600" y="2710359"/>
            <a:ext cx="26946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Касса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244600" y="2958009"/>
            <a:ext cx="2694686" cy="779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Бронь находится по коду, «Выдать» списывает товар обычной продажей по цене со скидкой.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12800" y="3851771"/>
            <a:ext cx="330200" cy="330200"/>
          </a:xfrm>
          <a:prstGeom prst="roundRect">
            <a:avLst>
              <a:gd name="adj" fmla="val 28846"/>
            </a:avLst>
          </a:prstGeom>
          <a:solidFill>
            <a:srgbClr val="DCECF7"/>
          </a:solidFill>
          <a:ln/>
        </p:spPr>
      </p:sp>
      <p:pic>
        <p:nvPicPr>
          <p:cNvPr id="15" name="Image 3" descr="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2650" y="3921621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44600" y="3851771"/>
            <a:ext cx="26946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Защита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244600" y="4099421"/>
            <a:ext cx="2694686" cy="115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3B455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Лимит запросов с адреса, не больше трёх броней на телефон, бронь истекает через два часа, имя и телефон стираются через 30 дней.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114800" y="1380430"/>
            <a:ext cx="2032000" cy="4318000"/>
          </a:xfrm>
          <a:prstGeom prst="roundRect">
            <a:avLst>
              <a:gd name="adj" fmla="val 1187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279400" dist="114300" dir="5400000">
              <a:srgbClr val="111827">
                <a:alpha val="28000"/>
              </a:srgbClr>
            </a:outerShdw>
          </a:effectLst>
        </p:spPr>
      </p:sp>
      <p:pic>
        <p:nvPicPr>
          <p:cNvPr id="19" name="Image 4" descr="Страница витрины на телефоне гостя: товары со скидкой">    </p:cNvPr>
          <p:cNvPicPr>
            <a:picLocks noChangeAspect="1"/>
          </p:cNvPicPr>
          <p:nvPr/>
        </p:nvPicPr>
        <p:blipFill>
          <a:blip r:embed="rId5"/>
          <a:srcRect l="0" r="0" t="0" b="9874"/>
          <a:stretch/>
        </p:blipFill>
        <p:spPr>
          <a:xfrm>
            <a:off x="4178300" y="1443930"/>
            <a:ext cx="1905000" cy="4191000"/>
          </a:xfrm>
          <a:prstGeom prst="roundRect">
            <a:avLst>
              <a:gd name="adj" fmla="val 9667"/>
            </a:avLst>
          </a:prstGeom>
        </p:spPr>
      </p:pic>
      <p:sp>
        <p:nvSpPr>
          <p:cNvPr id="20" name="Shape 13"/>
          <p:cNvSpPr/>
          <p:nvPr/>
        </p:nvSpPr>
        <p:spPr>
          <a:xfrm>
            <a:off x="6403975" y="1383605"/>
            <a:ext cx="4972050" cy="4184650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6350">
            <a:solidFill>
              <a:srgbClr val="C9D4DF"/>
            </a:solidFill>
            <a:prstDash val="solid"/>
          </a:ln>
          <a:effectLst>
            <a:outerShdw sx="100000" sy="100000" kx="0" ky="0" algn="bl" rotWithShape="0" blurRad="279400" dist="114300" dir="5400000">
              <a:srgbClr val="111827">
                <a:alpha val="1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407150" y="1386780"/>
            <a:ext cx="4965700" cy="241300"/>
          </a:xfrm>
          <a:custGeom>
            <a:avLst/>
            <a:gdLst/>
            <a:ahLst/>
            <a:cxnLst/>
            <a:rect l="l" t="t" r="r" b="b"/>
            <a:pathLst>
              <a:path w="4965700" h="241300">
                <a:moveTo>
                  <a:pt x="0" y="82550"/>
                </a:moveTo>
                <a:arcTo hR="82550" wR="82550" stAng="10800000" swAng="5400000"/>
                <a:lnTo>
                  <a:pt x="4883150" y="0"/>
                </a:lnTo>
                <a:arcTo hR="82550" wR="82550" stAng="16200000" swAng="5400000"/>
                <a:lnTo>
                  <a:pt x="4965700" y="241300"/>
                </a:lnTo>
                <a:lnTo>
                  <a:pt x="0" y="241300"/>
                </a:lnTo>
                <a:close/>
              </a:path>
            </a:pathLst>
          </a:custGeom>
          <a:solidFill>
            <a:srgbClr val="E4EAF0"/>
          </a:solidFill>
          <a:ln/>
        </p:spPr>
      </p:sp>
      <p:pic>
        <p:nvPicPr>
          <p:cNvPr id="22" name="Image 5" descr="ellips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08750" y="1466155"/>
            <a:ext cx="82550" cy="82550"/>
          </a:xfrm>
          <a:prstGeom prst="rect">
            <a:avLst/>
          </a:prstGeom>
        </p:spPr>
      </p:pic>
      <p:pic>
        <p:nvPicPr>
          <p:cNvPr id="23" name="Image 6" descr="ellip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48450" y="1466155"/>
            <a:ext cx="82550" cy="82550"/>
          </a:xfrm>
          <a:prstGeom prst="rect">
            <a:avLst/>
          </a:prstGeom>
        </p:spPr>
      </p:pic>
      <p:pic>
        <p:nvPicPr>
          <p:cNvPr id="24" name="Image 7" descr="ellips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788150" y="1466155"/>
            <a:ext cx="82550" cy="82550"/>
          </a:xfrm>
          <a:prstGeom prst="rect">
            <a:avLst/>
          </a:prstGeom>
        </p:spPr>
      </p:pic>
      <p:pic>
        <p:nvPicPr>
          <p:cNvPr id="25" name="Image 8" descr="Витрина у сотрудника: брони гостей и выставленные партии">    </p:cNvPr>
          <p:cNvPicPr>
            <a:picLocks noChangeAspect="1"/>
          </p:cNvPicPr>
          <p:nvPr/>
        </p:nvPicPr>
        <p:blipFill>
          <a:blip r:embed="rId9"/>
          <a:srcRect l="0" r="0" t="0" b="35860"/>
          <a:stretch/>
        </p:blipFill>
        <p:spPr>
          <a:xfrm>
            <a:off x="6407150" y="1628080"/>
            <a:ext cx="4965700" cy="3937000"/>
          </a:xfrm>
          <a:custGeom>
            <a:avLst/>
            <a:gdLst/>
            <a:ahLst/>
            <a:cxnLst/>
            <a:rect l="l" t="t" r="r" b="b"/>
            <a:pathLst>
              <a:path w="4965700" h="3937000">
                <a:moveTo>
                  <a:pt x="4965700" y="3854450"/>
                </a:moveTo>
                <a:arcTo wR="82550" hR="82550" stAng="0" swAng="5400000"/>
                <a:lnTo>
                  <a:pt x="82550" y="3937000"/>
                </a:lnTo>
                <a:arcTo wR="82550" hR="82550" stAng="5400000" swAng="5400000"/>
                <a:lnTo>
                  <a:pt x="0" y="0"/>
                </a:lnTo>
                <a:lnTo>
                  <a:pt x="4965700" y="0"/>
                </a:lnTo>
                <a:close/>
              </a:path>
            </a:pathLst>
          </a:custGeom>
        </p:spPr>
      </p:pic>
      <p:sp>
        <p:nvSpPr>
          <p:cNvPr id="26" name="Shape 15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D5DEE7"/>
          </a:solidFill>
          <a:ln/>
        </p:spPr>
      </p:sp>
      <p:sp>
        <p:nvSpPr>
          <p:cNvPr id="27" name="Shape 16"/>
          <p:cNvSpPr/>
          <p:nvPr/>
        </p:nvSpPr>
        <p:spPr>
          <a:xfrm>
            <a:off x="812800" y="6527800"/>
            <a:ext cx="6038850" cy="38100"/>
          </a:xfrm>
          <a:prstGeom prst="roundRect">
            <a:avLst>
              <a:gd name="adj" fmla="val 50000"/>
            </a:avLst>
          </a:prstGeom>
          <a:solidFill>
            <a:srgbClr val="0088CC"/>
          </a:solidFill>
          <a:ln/>
        </p:spPr>
      </p:sp>
      <p:sp>
        <p:nvSpPr>
          <p:cNvPr id="28" name="Text 17"/>
          <p:cNvSpPr/>
          <p:nvPr/>
        </p:nvSpPr>
        <p:spPr>
          <a:xfrm>
            <a:off x="812800" y="6230640"/>
            <a:ext cx="220872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100" dirty="0"/>
          </a:p>
        </p:txBody>
      </p:sp>
      <p:sp>
        <p:nvSpPr>
          <p:cNvPr id="29" name="Text 18"/>
          <p:cNvSpPr/>
          <p:nvPr/>
        </p:nvSpPr>
        <p:spPr>
          <a:xfrm>
            <a:off x="10813157" y="6230640"/>
            <a:ext cx="67925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68686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08 / 14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27930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6505"/>
            <a:ext cx="7693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9024243" y="406400"/>
            <a:ext cx="2354957" cy="322560"/>
          </a:xfrm>
          <a:prstGeom prst="roundRect">
            <a:avLst>
              <a:gd name="adj" fmla="val 50000"/>
            </a:avLst>
          </a:prstGeom>
          <a:solidFill>
            <a:srgbClr val="1B324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УСТРОЙСТВО · 1 ИЗ 5</a:t>
            </a:r>
            <a:endParaRPr lang="en-US" sz="11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894060"/>
            <a:ext cx="1088339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i="0" spc="-50" kern="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Один сервер, одна база, логика отдельно от базы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815975" y="1383605"/>
            <a:ext cx="5708650" cy="379710"/>
          </a:xfrm>
          <a:prstGeom prst="roundRect">
            <a:avLst>
              <a:gd name="adj" fmla="val 19232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  <p:txBody>
          <a:bodyPr wrap="square" lIns="121487" tIns="70687" rIns="0" bIns="45287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B3C3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браузер · кассы и 1С · Telegram · «Отгрузка»</a:t>
            </a:r>
            <a:endParaRPr lang="en-US" sz="1100" dirty="0"/>
          </a:p>
        </p:txBody>
      </p:sp>
      <p:pic>
        <p:nvPicPr>
          <p:cNvPr id="7" name="Image 1" descr="arrow-dow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62350" y="1855391"/>
            <a:ext cx="215900" cy="2159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9150" y="2166541"/>
            <a:ext cx="5702300" cy="2662634"/>
          </a:xfrm>
          <a:prstGeom prst="roundRect">
            <a:avLst>
              <a:gd name="adj" fmla="val 4054"/>
            </a:avLst>
          </a:prstGeom>
          <a:solidFill>
            <a:srgbClr val="162A3B"/>
          </a:solidFill>
          <a:ln w="12700">
            <a:solidFill>
              <a:srgbClr val="3FB4E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77900" y="2325291"/>
            <a:ext cx="5546344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Fastify, apps/server/src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77900" y="2605881"/>
            <a:ext cx="5384800" cy="561181"/>
          </a:xfrm>
          <a:prstGeom prst="roundRect">
            <a:avLst>
              <a:gd name="adj" fmla="val 13579"/>
            </a:avLst>
          </a:prstGeom>
          <a:solidFill>
            <a:srgbClr val="0F1923"/>
          </a:solidFill>
          <a:ln/>
        </p:spPr>
      </p:sp>
      <p:sp>
        <p:nvSpPr>
          <p:cNvPr id="11" name="Text 7"/>
          <p:cNvSpPr/>
          <p:nvPr/>
        </p:nvSpPr>
        <p:spPr>
          <a:xfrm>
            <a:off x="1092200" y="2688431"/>
            <a:ext cx="1257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plugins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413000" y="2682081"/>
            <a:ext cx="3950462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роль на каждом маршруте, заголовки, лимиты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77900" y="3243263"/>
            <a:ext cx="5384800" cy="561181"/>
          </a:xfrm>
          <a:prstGeom prst="roundRect">
            <a:avLst>
              <a:gd name="adj" fmla="val 13579"/>
            </a:avLst>
          </a:prstGeom>
          <a:solidFill>
            <a:srgbClr val="0F1923"/>
          </a:solidFill>
          <a:ln/>
        </p:spPr>
      </p:sp>
      <p:sp>
        <p:nvSpPr>
          <p:cNvPr id="14" name="Text 10"/>
          <p:cNvSpPr/>
          <p:nvPr/>
        </p:nvSpPr>
        <p:spPr>
          <a:xfrm>
            <a:off x="1092200" y="3325813"/>
            <a:ext cx="1257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modules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413000" y="3319463"/>
            <a:ext cx="3950462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30 областей: база, транзакции, интеграции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977900" y="3880644"/>
            <a:ext cx="5384800" cy="356791"/>
          </a:xfrm>
          <a:prstGeom prst="roundRect">
            <a:avLst>
              <a:gd name="adj" fmla="val 21357"/>
            </a:avLst>
          </a:prstGeom>
          <a:solidFill>
            <a:srgbClr val="0F1923"/>
          </a:solidFill>
          <a:ln/>
        </p:spPr>
      </p:sp>
      <p:sp>
        <p:nvSpPr>
          <p:cNvPr id="17" name="Text 13"/>
          <p:cNvSpPr/>
          <p:nvPr/>
        </p:nvSpPr>
        <p:spPr>
          <a:xfrm>
            <a:off x="1092200" y="3963194"/>
            <a:ext cx="1257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domain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413000" y="3956844"/>
            <a:ext cx="39497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чистая логика: FEFO, риск, стоп, горячие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977900" y="4313634"/>
            <a:ext cx="5384800" cy="356791"/>
          </a:xfrm>
          <a:prstGeom prst="roundRect">
            <a:avLst>
              <a:gd name="adj" fmla="val 21357"/>
            </a:avLst>
          </a:prstGeom>
          <a:solidFill>
            <a:srgbClr val="0F1923"/>
          </a:solidFill>
          <a:ln/>
        </p:spPr>
      </p:sp>
      <p:sp>
        <p:nvSpPr>
          <p:cNvPr id="20" name="Text 16"/>
          <p:cNvSpPr/>
          <p:nvPr/>
        </p:nvSpPr>
        <p:spPr>
          <a:xfrm>
            <a:off x="1092200" y="4396184"/>
            <a:ext cx="12573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lib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413000" y="4389834"/>
            <a:ext cx="39497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кеш, события, криптография, повторы</a:t>
            </a:r>
            <a:endParaRPr lang="en-US" sz="1150" dirty="0"/>
          </a:p>
        </p:txBody>
      </p:sp>
      <p:pic>
        <p:nvPicPr>
          <p:cNvPr id="22" name="Image 2" descr="arrow-dow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62350" y="4924425"/>
            <a:ext cx="215900" cy="2159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5975" y="5232400"/>
            <a:ext cx="5708650" cy="413941"/>
          </a:xfrm>
          <a:prstGeom prst="roundRect">
            <a:avLst>
              <a:gd name="adj" fmla="val 20709"/>
            </a:avLst>
          </a:prstGeom>
          <a:solidFill>
            <a:srgbClr val="162A3B"/>
          </a:solidFill>
          <a:ln w="6350">
            <a:solidFill>
              <a:srgbClr val="2A4057"/>
            </a:solidFill>
            <a:prstDash val="solid"/>
          </a:ln>
        </p:spPr>
        <p:txBody>
          <a:bodyPr wrap="square" lIns="117767" tIns="79667" rIns="0" bIns="54267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PostgreSQL 17 · Kysely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784975" y="1383605"/>
            <a:ext cx="4375150" cy="3077666"/>
          </a:xfrm>
          <a:prstGeom prst="roundRect">
            <a:avLst>
              <a:gd name="adj" fmla="val 3611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965950" y="1551880"/>
            <a:ext cx="4133596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держит сама база</a:t>
            </a:r>
            <a:endParaRPr lang="en-US" sz="1450" dirty="0"/>
          </a:p>
        </p:txBody>
      </p:sp>
      <p:pic>
        <p:nvPicPr>
          <p:cNvPr id="26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65950" y="1899841"/>
            <a:ext cx="190500" cy="1905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58050" y="1899841"/>
            <a:ext cx="3832733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CHECK</a:t>
            </a:r>
            <a:r>
              <a:rPr lang="en-US" sz="11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остаток партии от нуля до начального</a:t>
            </a:r>
            <a:endParaRPr lang="en-US" sz="1100" dirty="0"/>
          </a:p>
        </p:txBody>
      </p:sp>
      <p:pic>
        <p:nvPicPr>
          <p:cNvPr id="28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65950" y="2403872"/>
            <a:ext cx="190500" cy="1905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58050" y="2403872"/>
            <a:ext cx="3832733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trigger</a:t>
            </a:r>
            <a:r>
              <a:rPr lang="en-US" sz="11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движения и аудит только добавляются</a:t>
            </a:r>
            <a:endParaRPr lang="en-US" sz="1100" dirty="0"/>
          </a:p>
        </p:txBody>
      </p:sp>
      <p:pic>
        <p:nvPicPr>
          <p:cNvPr id="30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965950" y="2907903"/>
            <a:ext cx="190500" cy="1905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58050" y="2907903"/>
            <a:ext cx="3832733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unique</a:t>
            </a:r>
            <a:r>
              <a:rPr lang="en-US" sz="11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ключи идемпотентности, штрихкод, одна акция на партию</a:t>
            </a:r>
            <a:endParaRPr lang="en-US" sz="1100" dirty="0"/>
          </a:p>
        </p:txBody>
      </p:sp>
      <p:pic>
        <p:nvPicPr>
          <p:cNvPr id="32" name="Image 6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965950" y="3411934"/>
            <a:ext cx="190500" cy="1905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258050" y="3411934"/>
            <a:ext cx="3832733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roles</a:t>
            </a:r>
            <a:r>
              <a:rPr lang="en-US" sz="11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zapas_owner меняет схему, zapas_app работает с данными</a:t>
            </a:r>
            <a:endParaRPr lang="en-US" sz="1100" dirty="0"/>
          </a:p>
        </p:txBody>
      </p:sp>
      <p:pic>
        <p:nvPicPr>
          <p:cNvPr id="34" name="Image 7" descr="Chec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65950" y="3915966"/>
            <a:ext cx="190500" cy="1905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258050" y="3915966"/>
            <a:ext cx="3832733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migrate</a:t>
            </a:r>
            <a:r>
              <a:rPr lang="en-US" sz="11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21 миграция с контрольной суммой под блокировкой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223548"/>
          </a:solidFill>
          <a:ln/>
        </p:spPr>
      </p:sp>
      <p:sp>
        <p:nvSpPr>
          <p:cNvPr id="37" name="Shape 27"/>
          <p:cNvSpPr/>
          <p:nvPr/>
        </p:nvSpPr>
        <p:spPr>
          <a:xfrm>
            <a:off x="812800" y="6527800"/>
            <a:ext cx="6794500" cy="38100"/>
          </a:xfrm>
          <a:prstGeom prst="roundRect">
            <a:avLst>
              <a:gd name="adj" fmla="val 50000"/>
            </a:avLst>
          </a:prstGeom>
          <a:solidFill>
            <a:srgbClr val="3FB4EE"/>
          </a:solidFill>
          <a:ln/>
        </p:spPr>
      </p:sp>
      <p:sp>
        <p:nvSpPr>
          <p:cNvPr id="38" name="Text 28"/>
          <p:cNvSpPr/>
          <p:nvPr/>
        </p:nvSpPr>
        <p:spPr>
          <a:xfrm>
            <a:off x="812800" y="6230640"/>
            <a:ext cx="220872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D90A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100" dirty="0"/>
          </a:p>
        </p:txBody>
      </p:sp>
      <p:sp>
        <p:nvSpPr>
          <p:cNvPr id="39" name="Text 29"/>
          <p:cNvSpPr/>
          <p:nvPr/>
        </p:nvSpPr>
        <p:spPr>
          <a:xfrm>
            <a:off x="10817920" y="6230640"/>
            <a:ext cx="673537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7D90A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09 / 14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36860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2140"/>
            <a:ext cx="86165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809236" y="406400"/>
            <a:ext cx="2569964" cy="340320"/>
          </a:xfrm>
          <a:prstGeom prst="roundRect">
            <a:avLst>
              <a:gd name="adj" fmla="val 50000"/>
            </a:avLst>
          </a:prstGeom>
          <a:solidFill>
            <a:srgbClr val="1B324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УСТРОЙСТВО · 2 ИЗ 5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911820"/>
            <a:ext cx="11379200" cy="3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i="0" spc="-50" kern="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Целостность: транзакция, порядок блокировок, ключ повтора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15975" y="1373386"/>
            <a:ext cx="3397250" cy="3747691"/>
          </a:xfrm>
          <a:prstGeom prst="roundRect">
            <a:avLst>
              <a:gd name="adj" fmla="val 3271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1550" y="1528961"/>
            <a:ext cx="317868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Документ это транзакция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71550" y="2075061"/>
            <a:ext cx="3086100" cy="1902321"/>
          </a:xfrm>
          <a:prstGeom prst="roundRect">
            <a:avLst>
              <a:gd name="adj" fmla="val 4006"/>
            </a:avLst>
          </a:prstGeom>
          <a:solidFill>
            <a:srgbClr val="0A1118"/>
          </a:solidFill>
          <a:ln/>
        </p:spPr>
      </p:sp>
      <p:sp>
        <p:nvSpPr>
          <p:cNvPr id="9" name="Text 6"/>
          <p:cNvSpPr/>
          <p:nvPr/>
        </p:nvSpPr>
        <p:spPr>
          <a:xfrm>
            <a:off x="1098550" y="2176661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 права на точку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8550" y="2423021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 ключ повтора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8550" y="2669381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 BEGIN, номер документа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8550" y="2915741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 партии и движения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8550" y="3162102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 очередь 1С и аудит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8550" y="3408462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 COMMIT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8550" y="3654822"/>
            <a:ext cx="295910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 сброс кеша, пересчёт стопа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71550" y="4066282"/>
            <a:ext cx="31786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5D2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Ошибка до COMMIT откатывает всё: документ, движения, партии, очередь, аудит.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97375" y="1373386"/>
            <a:ext cx="3397250" cy="3747691"/>
          </a:xfrm>
          <a:prstGeom prst="roundRect">
            <a:avLst>
              <a:gd name="adj" fmla="val 3271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52950" y="1528961"/>
            <a:ext cx="31786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FEFO без гонок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552950" y="1846461"/>
            <a:ext cx="3086100" cy="1163241"/>
          </a:xfrm>
          <a:prstGeom prst="roundRect">
            <a:avLst>
              <a:gd name="adj" fmla="val 6551"/>
            </a:avLst>
          </a:prstGeom>
          <a:solidFill>
            <a:srgbClr val="0A1118"/>
          </a:solidFill>
          <a:ln/>
        </p:spPr>
      </p:sp>
      <p:sp>
        <p:nvSpPr>
          <p:cNvPr id="20" name="Text 17"/>
          <p:cNvSpPr/>
          <p:nvPr/>
        </p:nvSpPr>
        <p:spPr>
          <a:xfrm>
            <a:off x="4679950" y="1948061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SELECT … FROM batches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79950" y="2194421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ORDER BY product_id,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79950" y="2440781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expires_on, received_on, id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679950" y="2687141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FOR UPDATE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52950" y="3098602"/>
            <a:ext cx="3178683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5D2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Одинаковый порядок блокировок исключает взаимную блокировку, редкий 40P01 повторяется. Нехватка отклоняет документ целиком.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52950" y="4298752"/>
            <a:ext cx="3178683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Тест:</a:t>
            </a:r>
            <a:r>
              <a:rPr lang="en-US" sz="12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20 параллельных продаж на остаток 10 продают ровно 10.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978775" y="1373386"/>
            <a:ext cx="3397250" cy="3747691"/>
          </a:xfrm>
          <a:prstGeom prst="roundRect">
            <a:avLst>
              <a:gd name="adj" fmla="val 3271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34350" y="1528961"/>
            <a:ext cx="31786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Повтор без дублей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134350" y="1846461"/>
            <a:ext cx="3086100" cy="670520"/>
          </a:xfrm>
          <a:prstGeom prst="roundRect">
            <a:avLst>
              <a:gd name="adj" fmla="val 11364"/>
            </a:avLst>
          </a:prstGeom>
          <a:solidFill>
            <a:srgbClr val="0A11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61350" y="1948061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ключ = пользователь + ключ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61350" y="2194421"/>
            <a:ext cx="291706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отпечаток = sha256(тело)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134350" y="2605881"/>
            <a:ext cx="3178683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5D2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Тот же ключ и то же тело возвращают готовый документ. Другое тело даёт конфликт. Одновременные запросы разрешает уникальный индекс.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134350" y="4028281"/>
            <a:ext cx="3178683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5D2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Ключ есть у документов склада, заказов официанта и выдачи с витрины.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223548"/>
          </a:solidFill>
          <a:ln/>
        </p:spPr>
      </p:sp>
      <p:sp>
        <p:nvSpPr>
          <p:cNvPr id="34" name="Shape 31"/>
          <p:cNvSpPr/>
          <p:nvPr/>
        </p:nvSpPr>
        <p:spPr>
          <a:xfrm>
            <a:off x="812800" y="6527800"/>
            <a:ext cx="7550150" cy="38100"/>
          </a:xfrm>
          <a:prstGeom prst="roundRect">
            <a:avLst>
              <a:gd name="adj" fmla="val 50000"/>
            </a:avLst>
          </a:prstGeom>
          <a:solidFill>
            <a:srgbClr val="3FB4EE"/>
          </a:solidFill>
          <a:ln/>
        </p:spPr>
      </p:sp>
      <p:sp>
        <p:nvSpPr>
          <p:cNvPr id="35" name="Text 32"/>
          <p:cNvSpPr/>
          <p:nvPr/>
        </p:nvSpPr>
        <p:spPr>
          <a:xfrm>
            <a:off x="812800" y="6212880"/>
            <a:ext cx="2409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90A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819011" y="6212880"/>
            <a:ext cx="6722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D90A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 / 14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36860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2140"/>
            <a:ext cx="86165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807847" y="406400"/>
            <a:ext cx="2571353" cy="340320"/>
          </a:xfrm>
          <a:prstGeom prst="roundRect">
            <a:avLst>
              <a:gd name="adj" fmla="val 50000"/>
            </a:avLst>
          </a:prstGeom>
          <a:solidFill>
            <a:srgbClr val="1B324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УСТРОЙСТВО · 3 ИЗ 5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911820"/>
            <a:ext cx="1088339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i="0" spc="-50" kern="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Кеш расчётов и обновление экранов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12800" y="1398191"/>
            <a:ext cx="330200" cy="330200"/>
          </a:xfrm>
          <a:prstGeom prst="roundRect">
            <a:avLst>
              <a:gd name="adj" fmla="val 28846"/>
            </a:avLst>
          </a:prstGeom>
          <a:solidFill>
            <a:srgbClr val="1B3248"/>
          </a:solidFill>
          <a:ln/>
        </p:spPr>
      </p:sp>
      <p:pic>
        <p:nvPicPr>
          <p:cNvPr id="7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2650" y="1468041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57300" y="1398191"/>
            <a:ext cx="6082665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Единый полёт.</a:t>
            </a:r>
            <a:r>
              <a:rPr lang="en-US" sz="12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Параллельные запросы делят одну загрузку среза, пять человек на панели дают один расчёт.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12800" y="1941116"/>
            <a:ext cx="330200" cy="330200"/>
          </a:xfrm>
          <a:prstGeom prst="roundRect">
            <a:avLst>
              <a:gd name="adj" fmla="val 28846"/>
            </a:avLst>
          </a:prstGeom>
          <a:solidFill>
            <a:srgbClr val="1B3248"/>
          </a:solidFill>
          <a:ln/>
        </p:spPr>
      </p:sp>
      <p:pic>
        <p:nvPicPr>
          <p:cNvPr id="10" name="Image 2" descr="Light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2650" y="2010966"/>
            <a:ext cx="190500" cy="190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57300" y="1941116"/>
            <a:ext cx="6082665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Сброс записью.</a:t>
            </a:r>
            <a:r>
              <a:rPr lang="en-US" sz="12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Хук onSend сбрасывает кеш организации раньше, чем уходит ответ, поэтому человек сразу видит свою операцию.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812800" y="2698353"/>
            <a:ext cx="330200" cy="330200"/>
          </a:xfrm>
          <a:prstGeom prst="roundRect">
            <a:avLst>
              <a:gd name="adj" fmla="val 28846"/>
            </a:avLst>
          </a:prstGeom>
          <a:solidFill>
            <a:srgbClr val="1B3248"/>
          </a:solidFill>
          <a:ln/>
        </p:spPr>
      </p:sp>
      <p:pic>
        <p:nvPicPr>
          <p:cNvPr id="13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2650" y="2768203"/>
            <a:ext cx="190500" cy="190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57300" y="2698353"/>
            <a:ext cx="6082665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 организации.</a:t>
            </a:r>
            <a:r>
              <a:rPr lang="en-US" sz="12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Срез помечен тегами, запись одной организации не трогает срезы другой.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812800" y="3241278"/>
            <a:ext cx="330200" cy="330200"/>
          </a:xfrm>
          <a:prstGeom prst="roundRect">
            <a:avLst>
              <a:gd name="adj" fmla="val 28846"/>
            </a:avLst>
          </a:prstGeom>
          <a:solidFill>
            <a:srgbClr val="1B3248"/>
          </a:solidFill>
          <a:ln/>
        </p:spPr>
      </p:sp>
      <p:pic>
        <p:nvPicPr>
          <p:cNvPr id="16" name="Image 4" descr="C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2650" y="3311128"/>
            <a:ext cx="190500" cy="190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57300" y="3241278"/>
            <a:ext cx="6082665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Тяжёлые срезы.</a:t>
            </a:r>
            <a:r>
              <a:rPr lang="en-US" sz="12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Загрузка дольше 250 мс пересобирается не чаще раза в две длительности, читатели получают прежний срез.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812800" y="3998516"/>
            <a:ext cx="330200" cy="330200"/>
          </a:xfrm>
          <a:prstGeom prst="roundRect">
            <a:avLst>
              <a:gd name="adj" fmla="val 28846"/>
            </a:avLst>
          </a:prstGeom>
          <a:solidFill>
            <a:srgbClr val="1B3248"/>
          </a:solidFill>
          <a:ln/>
        </p:spPr>
      </p:sp>
      <p:pic>
        <p:nvPicPr>
          <p:cNvPr id="19" name="Image 5" descr="Lo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2650" y="4068366"/>
            <a:ext cx="190500" cy="190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57300" y="3998516"/>
            <a:ext cx="6082665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Свежие данные по требованию</a:t>
            </a:r>
            <a:r>
              <a:rPr lang="en-US" sz="12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на один ключ, так считает фоновый стоп-лист. Права и токены не кешируются вообще.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812800" y="4755753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lib/snapshot-cache.ts · analytics/snapshot.ts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7470775" y="1401366"/>
            <a:ext cx="3905250" cy="3604022"/>
          </a:xfrm>
          <a:prstGeom prst="roundRect">
            <a:avLst>
              <a:gd name="adj" fmla="val 3083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651750" y="1582341"/>
            <a:ext cx="364959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9% → 73,7%</a:t>
            </a:r>
            <a:endParaRPr lang="en-US" sz="3200" dirty="0"/>
          </a:p>
        </p:txBody>
      </p:sp>
      <p:sp>
        <p:nvSpPr>
          <p:cNvPr id="24" name="Text 16"/>
          <p:cNvSpPr/>
          <p:nvPr/>
        </p:nvSpPr>
        <p:spPr>
          <a:xfrm>
            <a:off x="7651750" y="1988741"/>
            <a:ext cx="3649599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3C3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доля попаданий после исправления: вход сбрасывал кеш всем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7651750" y="2524522"/>
            <a:ext cx="364959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46 → 6 мс</a:t>
            </a:r>
            <a:endParaRPr lang="en-US" sz="3200" dirty="0"/>
          </a:p>
        </p:txBody>
      </p:sp>
      <p:sp>
        <p:nvSpPr>
          <p:cNvPr id="26" name="Text 18"/>
          <p:cNvSpPr/>
          <p:nvPr/>
        </p:nvSpPr>
        <p:spPr>
          <a:xfrm>
            <a:off x="7651750" y="2930922"/>
            <a:ext cx="3649599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3C3D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панель с холодным и тёплым кешем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7651750" y="3268663"/>
            <a:ext cx="3649599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SSE вместо WebSocket.</a:t>
            </a:r>
            <a:r>
              <a:rPr lang="en-US" sz="125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Сервер шлёт сигнал «данные изменились» без данных, экран сам перечитывает нужное с проверкой прав. Между экземплярами сигнал идёт через LISTEN/NOTIFY, около 22 мс.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223548"/>
          </a:solidFill>
          <a:ln/>
        </p:spPr>
      </p:sp>
      <p:sp>
        <p:nvSpPr>
          <p:cNvPr id="29" name="Shape 21"/>
          <p:cNvSpPr/>
          <p:nvPr/>
        </p:nvSpPr>
        <p:spPr>
          <a:xfrm>
            <a:off x="812800" y="6527800"/>
            <a:ext cx="8299450" cy="38100"/>
          </a:xfrm>
          <a:prstGeom prst="roundRect">
            <a:avLst>
              <a:gd name="adj" fmla="val 50000"/>
            </a:avLst>
          </a:prstGeom>
          <a:solidFill>
            <a:srgbClr val="3FB4EE"/>
          </a:solidFill>
          <a:ln/>
        </p:spPr>
      </p:sp>
      <p:sp>
        <p:nvSpPr>
          <p:cNvPr id="30" name="Text 22"/>
          <p:cNvSpPr/>
          <p:nvPr/>
        </p:nvSpPr>
        <p:spPr>
          <a:xfrm>
            <a:off x="812800" y="6212880"/>
            <a:ext cx="2409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90A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0881519" y="6212880"/>
            <a:ext cx="5972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D90A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11 / 14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32395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2041"/>
            <a:ext cx="83093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8891687" y="406400"/>
            <a:ext cx="2487513" cy="331391"/>
          </a:xfrm>
          <a:prstGeom prst="roundRect">
            <a:avLst>
              <a:gd name="adj" fmla="val 50000"/>
            </a:avLst>
          </a:prstGeom>
          <a:solidFill>
            <a:srgbClr val="1B324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spc="100" kern="0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УСТРОЙСТВО · 4 ИЗ 5</a:t>
            </a:r>
            <a:endParaRPr lang="en-US" sz="115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902891"/>
            <a:ext cx="1088339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i="0" spc="-50" kern="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Безопасность слоями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15975" y="1392436"/>
            <a:ext cx="3431084" cy="1302445"/>
          </a:xfrm>
          <a:prstGeom prst="roundRect">
            <a:avLst>
              <a:gd name="adj" fmla="val 7557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pic>
        <p:nvPicPr>
          <p:cNvPr id="7" name="Image 1" descr="Ke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8850" y="1534616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25550" y="1509911"/>
            <a:ext cx="103001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Пароли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958850" y="1800721"/>
            <a:ext cx="3239694" cy="6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Argon2id; неверный пароль и неизвестный адрес отвечают одинаково, время выровнено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80409" y="1392436"/>
            <a:ext cx="3431084" cy="1302445"/>
          </a:xfrm>
          <a:prstGeom prst="roundRect">
            <a:avLst>
              <a:gd name="adj" fmla="val 7557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pic>
        <p:nvPicPr>
          <p:cNvPr id="11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23284" y="1534616"/>
            <a:ext cx="190500" cy="190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89984" y="1509911"/>
            <a:ext cx="99845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Сессии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523284" y="1800721"/>
            <a:ext cx="3239694" cy="802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JWT на 15 минут в памяти, обновление по httpOnly cookie с ротацией, повтор старого токена гасит сессию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944842" y="1392436"/>
            <a:ext cx="3431084" cy="1302445"/>
          </a:xfrm>
          <a:prstGeom prst="roundRect">
            <a:avLst>
              <a:gd name="adj" fmla="val 7557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pic>
        <p:nvPicPr>
          <p:cNvPr id="15" name="Image 3" descr="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87717" y="1534616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54417" y="1509911"/>
            <a:ext cx="8382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Отзыв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087717" y="1800721"/>
            <a:ext cx="3239694" cy="6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 каждом запросе проверяются пользователь, сессия и смена пароля, права не кешируются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15975" y="2828230"/>
            <a:ext cx="3431084" cy="1302445"/>
          </a:xfrm>
          <a:prstGeom prst="roundRect">
            <a:avLst>
              <a:gd name="adj" fmla="val 7557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pic>
        <p:nvPicPr>
          <p:cNvPr id="19" name="Image 4" descr="PaperPlan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8850" y="2970411"/>
            <a:ext cx="190500" cy="1905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25550" y="2945705"/>
            <a:ext cx="207680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Второй фактор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958850" y="3236516"/>
            <a:ext cx="3239694" cy="802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администратор: код из Telegram на 5 минут, 5 попыток, 8 резервных кодов, кнопка «Это не я»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380409" y="2828230"/>
            <a:ext cx="3431084" cy="1302445"/>
          </a:xfrm>
          <a:prstGeom prst="roundRect">
            <a:avLst>
              <a:gd name="adj" fmla="val 7557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pic>
        <p:nvPicPr>
          <p:cNvPr id="23" name="Image 5" descr="Verified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23284" y="2970411"/>
            <a:ext cx="190500" cy="1905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789984" y="2945705"/>
            <a:ext cx="85308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Права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4523284" y="3236516"/>
            <a:ext cx="3239694" cy="6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без роли не даёт серверу стартовать, тест обходит все маршруты под каждой ролью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7944842" y="2828230"/>
            <a:ext cx="3431084" cy="1302445"/>
          </a:xfrm>
          <a:prstGeom prst="roundRect">
            <a:avLst>
              <a:gd name="adj" fmla="val 7557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pic>
        <p:nvPicPr>
          <p:cNvPr id="27" name="Image 6" descr="Users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087717" y="2970411"/>
            <a:ext cx="190500" cy="1905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354417" y="2945705"/>
            <a:ext cx="181701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Организации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8087717" y="3236516"/>
            <a:ext cx="3239694" cy="6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org_id в данных, чужой объект отвечает 404; изоляция в коде и тестах, не на уровне базы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815975" y="4264025"/>
            <a:ext cx="3431084" cy="1302445"/>
          </a:xfrm>
          <a:prstGeom prst="roundRect">
            <a:avLst>
              <a:gd name="adj" fmla="val 7557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pic>
        <p:nvPicPr>
          <p:cNvPr id="31" name="Image 7" descr="Boo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58850" y="4406205"/>
            <a:ext cx="190500" cy="1905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225550" y="4381500"/>
            <a:ext cx="82736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Аудит</a:t>
            </a:r>
            <a:endParaRPr lang="en-US" sz="1350" dirty="0"/>
          </a:p>
        </p:txBody>
      </p:sp>
      <p:sp>
        <p:nvSpPr>
          <p:cNvPr id="33" name="Text 23"/>
          <p:cNvSpPr/>
          <p:nvPr/>
        </p:nvSpPr>
        <p:spPr>
          <a:xfrm>
            <a:off x="958850" y="4672310"/>
            <a:ext cx="3239694" cy="6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цепочка sha256 в одной транзакции с операцией, правка и удаление запрещены триггером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4380409" y="4264025"/>
            <a:ext cx="3431084" cy="1302445"/>
          </a:xfrm>
          <a:prstGeom prst="roundRect">
            <a:avLst>
              <a:gd name="adj" fmla="val 7557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pic>
        <p:nvPicPr>
          <p:cNvPr id="35" name="Image 8" descr="Trust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23284" y="4406205"/>
            <a:ext cx="190500" cy="1905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789984" y="4381500"/>
            <a:ext cx="1341834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Периметр</a:t>
            </a:r>
            <a:endParaRPr lang="en-US" sz="1350" dirty="0"/>
          </a:p>
        </p:txBody>
      </p:sp>
      <p:sp>
        <p:nvSpPr>
          <p:cNvPr id="37" name="Text 26"/>
          <p:cNvSpPr/>
          <p:nvPr/>
        </p:nvSpPr>
        <p:spPr>
          <a:xfrm>
            <a:off x="4523284" y="4672310"/>
            <a:ext cx="3239694" cy="607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CSP, лимиты запросов, строгие схемы, вебхуки без внутренних адресов и с подписью HMAC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7944842" y="4264025"/>
            <a:ext cx="3431084" cy="1302445"/>
          </a:xfrm>
          <a:prstGeom prst="roundRect">
            <a:avLst>
              <a:gd name="adj" fmla="val 7557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pic>
        <p:nvPicPr>
          <p:cNvPr id="39" name="Image 9" descr="Glob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087717" y="4406205"/>
            <a:ext cx="190500" cy="19050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354417" y="4381500"/>
            <a:ext cx="116074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Витрина</a:t>
            </a:r>
            <a:endParaRPr lang="en-US" sz="1350" dirty="0"/>
          </a:p>
        </p:txBody>
      </p:sp>
      <p:sp>
        <p:nvSpPr>
          <p:cNvPr id="41" name="Text 29"/>
          <p:cNvSpPr/>
          <p:nvPr/>
        </p:nvSpPr>
        <p:spPr>
          <a:xfrm>
            <a:off x="8087717" y="4672310"/>
            <a:ext cx="3239694" cy="802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единственная открытая часть: лимиты, поле-ловушка, блокировка при брони, данные гостя стираются</a:t>
            </a:r>
            <a:endParaRPr lang="en-US" sz="1150" dirty="0"/>
          </a:p>
        </p:txBody>
      </p:sp>
      <p:sp>
        <p:nvSpPr>
          <p:cNvPr id="42" name="Shape 30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223548"/>
          </a:solidFill>
          <a:ln/>
        </p:spPr>
      </p:sp>
      <p:sp>
        <p:nvSpPr>
          <p:cNvPr id="43" name="Shape 31"/>
          <p:cNvSpPr/>
          <p:nvPr/>
        </p:nvSpPr>
        <p:spPr>
          <a:xfrm>
            <a:off x="812800" y="6527800"/>
            <a:ext cx="9055100" cy="38100"/>
          </a:xfrm>
          <a:prstGeom prst="roundRect">
            <a:avLst>
              <a:gd name="adj" fmla="val 50000"/>
            </a:avLst>
          </a:prstGeom>
          <a:solidFill>
            <a:srgbClr val="3FB4EE"/>
          </a:solidFill>
          <a:ln/>
        </p:spPr>
      </p:sp>
      <p:sp>
        <p:nvSpPr>
          <p:cNvPr id="44" name="Text 32"/>
          <p:cNvSpPr/>
          <p:nvPr/>
        </p:nvSpPr>
        <p:spPr>
          <a:xfrm>
            <a:off x="812800" y="6221809"/>
            <a:ext cx="2309098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7D90A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150" dirty="0"/>
          </a:p>
        </p:txBody>
      </p:sp>
      <p:sp>
        <p:nvSpPr>
          <p:cNvPr id="45" name="Text 33"/>
          <p:cNvSpPr/>
          <p:nvPr/>
        </p:nvSpPr>
        <p:spPr>
          <a:xfrm>
            <a:off x="10856119" y="6221809"/>
            <a:ext cx="627698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7D90A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12 / 14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32395"/>
            <a:ext cx="279400" cy="279400"/>
          </a:xfrm>
          <a:prstGeom prst="roundRect">
            <a:avLst>
              <a:gd name="adj" fmla="val 250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1181100" y="452041"/>
            <a:ext cx="83093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8897640" y="406400"/>
            <a:ext cx="2481560" cy="331391"/>
          </a:xfrm>
          <a:prstGeom prst="roundRect">
            <a:avLst>
              <a:gd name="adj" fmla="val 50000"/>
            </a:avLst>
          </a:prstGeom>
          <a:solidFill>
            <a:srgbClr val="1B324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150" spc="100" kern="0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УСТРОЙСТВО · 5 ИЗ 5</a:t>
            </a:r>
            <a:endParaRPr lang="en-US" sz="115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902891"/>
            <a:ext cx="1088339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300" b="1" i="0" spc="-50" kern="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Чем проверено и где границы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15975" y="1392436"/>
            <a:ext cx="2667000" cy="1027311"/>
          </a:xfrm>
          <a:prstGeom prst="roundRect">
            <a:avLst>
              <a:gd name="adj" fmla="val 9581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1550" y="1509911"/>
            <a:ext cx="24265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3250" b="1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860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971550" y="1922661"/>
            <a:ext cx="2426526" cy="40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тестов сервера на настоящей PostgreSQL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03625" y="1392436"/>
            <a:ext cx="2667000" cy="1027311"/>
          </a:xfrm>
          <a:prstGeom prst="roundRect">
            <a:avLst>
              <a:gd name="adj" fmla="val 9581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59200" y="1509911"/>
            <a:ext cx="24265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3250" b="1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292</a:t>
            </a:r>
            <a:endParaRPr lang="en-US" sz="3250" dirty="0"/>
          </a:p>
        </p:txBody>
      </p:sp>
      <p:sp>
        <p:nvSpPr>
          <p:cNvPr id="11" name="Text 8"/>
          <p:cNvSpPr/>
          <p:nvPr/>
        </p:nvSpPr>
        <p:spPr>
          <a:xfrm>
            <a:off x="3759200" y="1922661"/>
            <a:ext cx="242652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теста веб-интерфейса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5975" y="2540397"/>
            <a:ext cx="2667000" cy="1027311"/>
          </a:xfrm>
          <a:prstGeom prst="roundRect">
            <a:avLst>
              <a:gd name="adj" fmla="val 9581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1550" y="2657872"/>
            <a:ext cx="24265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3250" b="1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103</a:t>
            </a:r>
            <a:endParaRPr lang="en-US" sz="3250" dirty="0"/>
          </a:p>
        </p:txBody>
      </p:sp>
      <p:sp>
        <p:nvSpPr>
          <p:cNvPr id="14" name="Text 11"/>
          <p:cNvSpPr/>
          <p:nvPr/>
        </p:nvSpPr>
        <p:spPr>
          <a:xfrm>
            <a:off x="971550" y="3070622"/>
            <a:ext cx="2426526" cy="21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теста общего пакета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03625" y="2540397"/>
            <a:ext cx="2667000" cy="1027311"/>
          </a:xfrm>
          <a:prstGeom prst="roundRect">
            <a:avLst>
              <a:gd name="adj" fmla="val 9581"/>
            </a:avLst>
          </a:prstGeom>
          <a:solidFill>
            <a:srgbClr val="14222F"/>
          </a:solidFill>
          <a:ln w="6350">
            <a:solidFill>
              <a:srgbClr val="2A40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59200" y="2657872"/>
            <a:ext cx="24265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3250" b="1" dirty="0">
                <a:solidFill>
                  <a:srgbClr val="3FB4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13</a:t>
            </a:r>
            <a:endParaRPr lang="en-US" sz="3250" dirty="0"/>
          </a:p>
        </p:txBody>
      </p:sp>
      <p:sp>
        <p:nvSpPr>
          <p:cNvPr id="17" name="Text 14"/>
          <p:cNvSpPr/>
          <p:nvPr/>
        </p:nvSpPr>
        <p:spPr>
          <a:xfrm>
            <a:off x="3759200" y="3070622"/>
            <a:ext cx="2426526" cy="40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тестов кабинета поставщика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12800" y="3697883"/>
            <a:ext cx="562483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6E0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Гонка на остаток, случайные кухни для горячих блюд, обход всех маршрутов под каждой ролью, очередь офлайн, кеш, бронь на витрине под одновременными запросами.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2800" y="4678164"/>
            <a:ext cx="56248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Нагрузка на 54 тысячах партий:</a:t>
            </a: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продажа 10 мс, стоп-лист 20 мс, панель 150-200 мс.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2800" y="5231805"/>
            <a:ext cx="562483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litvinskiy-dev.ru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12800" y="5563195"/>
            <a:ext cx="562483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справочник по коду: docs/EXPERT-GUIDE.md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559550" y="1395611"/>
            <a:ext cx="4813300" cy="3620790"/>
          </a:xfrm>
          <a:prstGeom prst="roundRect">
            <a:avLst>
              <a:gd name="adj" fmla="val 2981"/>
            </a:avLst>
          </a:prstGeom>
          <a:solidFill>
            <a:srgbClr val="1B2530"/>
          </a:solidFill>
          <a:ln w="12700">
            <a:solidFill>
              <a:srgbClr val="F2B24A"/>
            </a:solidFill>
            <a:prstDash val="solid"/>
          </a:ln>
        </p:spPr>
      </p:sp>
      <p:pic>
        <p:nvPicPr>
          <p:cNvPr id="23" name="Image 1" descr="Warning">    </p:cNvPr>
          <p:cNvPicPr>
            <a:picLocks noChangeAspect="1"/>
          </p:cNvPicPr>
          <p:nvPr/>
        </p:nvPicPr>
        <p:blipFill>
          <a:blip r:embed="rId2"/>
          <a:srcRect l="-223" r="-223" t="0" b="0"/>
          <a:stretch/>
        </p:blipFill>
        <p:spPr>
          <a:xfrm>
            <a:off x="6743700" y="1681361"/>
            <a:ext cx="223242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55842" y="1567061"/>
            <a:ext cx="425684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B24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Границы, о которых говорим сами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756400" y="2125861"/>
            <a:ext cx="0" cy="630734"/>
          </a:xfrm>
          <a:prstGeom prst="line">
            <a:avLst/>
          </a:prstGeom>
          <a:noFill/>
          <a:ln w="25400">
            <a:solidFill>
              <a:srgbClr val="F2B2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883400" y="2125861"/>
            <a:ext cx="4434459" cy="65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Кеш и лимиты запросов живут в памяти процесса, между экземплярами кеш согласуется через NOTIFY.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756400" y="2858195"/>
            <a:ext cx="0" cy="420489"/>
          </a:xfrm>
          <a:prstGeom prst="line">
            <a:avLst/>
          </a:prstGeom>
          <a:noFill/>
          <a:ln w="25400">
            <a:solidFill>
              <a:srgbClr val="F2B24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883400" y="2858195"/>
            <a:ext cx="4434459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Организации изолированы кодом, без Row Level Security.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756400" y="3380284"/>
            <a:ext cx="0" cy="420489"/>
          </a:xfrm>
          <a:prstGeom prst="line">
            <a:avLst/>
          </a:prstGeom>
          <a:noFill/>
          <a:ln w="25400">
            <a:solidFill>
              <a:srgbClr val="F2B24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883400" y="3380284"/>
            <a:ext cx="4434459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Второй фактор только у администраторов и через Telegram, не TOTP.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756400" y="3902373"/>
            <a:ext cx="0" cy="420489"/>
          </a:xfrm>
          <a:prstGeom prst="line">
            <a:avLst/>
          </a:prstGeom>
          <a:noFill/>
          <a:ln w="25400">
            <a:solidFill>
              <a:srgbClr val="F2B24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83400" y="3902373"/>
            <a:ext cx="4434459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Кабинет поставщика на node:sqlite, GigaChat на стенде без проверки сертификата.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756400" y="4424462"/>
            <a:ext cx="0" cy="420489"/>
          </a:xfrm>
          <a:prstGeom prst="line">
            <a:avLst/>
          </a:prstGeom>
          <a:noFill/>
          <a:ln w="25400">
            <a:solidFill>
              <a:srgbClr val="F2B24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883400" y="4424462"/>
            <a:ext cx="4434459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Обмен с 1С проверен на имитации, реального стенда не было.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812800" y="6527800"/>
            <a:ext cx="10566400" cy="38100"/>
          </a:xfrm>
          <a:prstGeom prst="roundRect">
            <a:avLst>
              <a:gd name="adj" fmla="val 50000"/>
            </a:avLst>
          </a:prstGeom>
          <a:solidFill>
            <a:srgbClr val="223548"/>
          </a:solidFill>
          <a:ln/>
        </p:spPr>
      </p:sp>
      <p:sp>
        <p:nvSpPr>
          <p:cNvPr id="36" name="Shape 32"/>
          <p:cNvSpPr/>
          <p:nvPr/>
        </p:nvSpPr>
        <p:spPr>
          <a:xfrm>
            <a:off x="812800" y="6527800"/>
            <a:ext cx="9810750" cy="38100"/>
          </a:xfrm>
          <a:prstGeom prst="roundRect">
            <a:avLst>
              <a:gd name="adj" fmla="val 50000"/>
            </a:avLst>
          </a:prstGeom>
          <a:solidFill>
            <a:srgbClr val="3FB4EE"/>
          </a:solidFill>
          <a:ln/>
        </p:spPr>
      </p:sp>
      <p:sp>
        <p:nvSpPr>
          <p:cNvPr id="37" name="Text 33"/>
          <p:cNvSpPr/>
          <p:nvPr/>
        </p:nvSpPr>
        <p:spPr>
          <a:xfrm>
            <a:off x="812800" y="6221809"/>
            <a:ext cx="2309098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7D90A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 · CyberPink228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10855127" y="6221809"/>
            <a:ext cx="628888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7D90A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13 / 14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497D"/>
              </a:gs>
              <a:gs pos="45000">
                <a:srgbClr val="0069B4"/>
              </a:gs>
              <a:gs pos="100000">
                <a:srgbClr val="1AA6E4"/>
              </a:gs>
            </a:gsLst>
            <a:lin ang="2700000" scaled="0"/>
          </a:gradFill>
          <a:ln/>
        </p:spPr>
      </p:sp>
      <p:pic>
        <p:nvPicPr>
          <p:cNvPr id="3" name="Image 0" descr="Знак «Запаса»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711200"/>
            <a:ext cx="508000" cy="508000"/>
          </a:xfrm>
          <a:prstGeom prst="roundRect">
            <a:avLst>
              <a:gd name="adj" fmla="val 25000"/>
            </a:avLst>
          </a:prstGeom>
          <a:effectLst>
            <a:outerShdw sx="100000" sy="100000" kx="0" ky="0" algn="bl" rotWithShape="0" blurRad="190500" dist="63500" dir="5400000">
              <a:srgbClr val="00122E">
                <a:alpha val="3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1498600" y="863600"/>
            <a:ext cx="497078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UMIRHACK III · КЕЙС «ФЛАГМАН»</a:t>
            </a:r>
            <a:endParaRPr lang="en-US" sz="115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00100" y="2032000"/>
            <a:ext cx="7063740" cy="1942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48"/>
              </a:lnSpc>
              <a:buNone/>
            </a:pPr>
            <a:r>
              <a:rPr lang="en-US" sz="7400" b="1" i="0" spc="-25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Спасибо за внимание</a:t>
            </a:r>
            <a:endParaRPr lang="en-US" sz="7400" dirty="0"/>
          </a:p>
        </p:txBody>
      </p:sp>
      <p:sp>
        <p:nvSpPr>
          <p:cNvPr id="6" name="Shape 3"/>
          <p:cNvSpPr/>
          <p:nvPr/>
        </p:nvSpPr>
        <p:spPr>
          <a:xfrm>
            <a:off x="812800" y="40640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FF5CBF"/>
          </a:solidFill>
          <a:ln/>
        </p:spPr>
      </p:sp>
      <p:sp>
        <p:nvSpPr>
          <p:cNvPr id="7" name="Text 4"/>
          <p:cNvSpPr/>
          <p:nvPr/>
        </p:nvSpPr>
        <p:spPr>
          <a:xfrm>
            <a:off x="812800" y="4381500"/>
            <a:ext cx="7194550" cy="337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Будем рады ответить на ваши вопросы</a:t>
            </a:r>
            <a:endParaRPr lang="en-US" sz="2050" dirty="0"/>
          </a:p>
        </p:txBody>
      </p:sp>
      <p:sp>
        <p:nvSpPr>
          <p:cNvPr id="8" name="Shape 5"/>
          <p:cNvSpPr/>
          <p:nvPr/>
        </p:nvSpPr>
        <p:spPr>
          <a:xfrm>
            <a:off x="7829550" y="1593850"/>
            <a:ext cx="3009900" cy="2774851"/>
          </a:xfrm>
          <a:prstGeom prst="roundRect">
            <a:avLst>
              <a:gd name="adj" fmla="val 6179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89900" y="1854200"/>
            <a:ext cx="482600" cy="482600"/>
          </a:xfrm>
          <a:prstGeom prst="roundRect">
            <a:avLst>
              <a:gd name="adj" fmla="val 25000"/>
            </a:avLst>
          </a:prstGeom>
        </p:spPr>
      </p:pic>
      <p:sp>
        <p:nvSpPr>
          <p:cNvPr id="10" name="Text 6"/>
          <p:cNvSpPr/>
          <p:nvPr/>
        </p:nvSpPr>
        <p:spPr>
          <a:xfrm>
            <a:off x="8699500" y="1873250"/>
            <a:ext cx="150054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500" b="1" spc="-5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Запас</a:t>
            </a:r>
            <a:endParaRPr lang="en-US" sz="2500" dirty="0"/>
          </a:p>
        </p:txBody>
      </p:sp>
      <p:pic>
        <p:nvPicPr>
          <p:cNvPr id="11" name="Image 2" descr="Glob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89900" y="2532955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32800" y="2527300"/>
            <a:ext cx="199072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litvinskiy-dev.ru</a:t>
            </a:r>
            <a:endParaRPr lang="en-US" sz="1350" dirty="0"/>
          </a:p>
        </p:txBody>
      </p:sp>
      <p:pic>
        <p:nvPicPr>
          <p:cNvPr id="13" name="Image 3" descr="Users">    </p:cNvPr>
          <p:cNvPicPr>
            <a:picLocks noChangeAspect="1"/>
          </p:cNvPicPr>
          <p:nvPr/>
        </p:nvPicPr>
        <p:blipFill>
          <a:blip r:embed="rId4"/>
          <a:srcRect l="-807" r="-807" t="0" b="0"/>
          <a:stretch/>
        </p:blipFill>
        <p:spPr>
          <a:xfrm>
            <a:off x="8089900" y="3083520"/>
            <a:ext cx="193576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97776" y="2957810"/>
            <a:ext cx="224676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Команда CyberPink228</a:t>
            </a:r>
            <a:endParaRPr lang="en-US" sz="1350" dirty="0"/>
          </a:p>
        </p:txBody>
      </p:sp>
      <p:pic>
        <p:nvPicPr>
          <p:cNvPr id="15" name="Image 4" descr="Book">    </p:cNvPr>
          <p:cNvPicPr>
            <a:picLocks noChangeAspect="1"/>
          </p:cNvPicPr>
          <p:nvPr/>
        </p:nvPicPr>
        <p:blipFill>
          <a:blip r:embed="rId5"/>
          <a:srcRect l="0" r="0" t="-177" b="-177"/>
          <a:stretch/>
        </p:blipFill>
        <p:spPr>
          <a:xfrm>
            <a:off x="8089900" y="3754041"/>
            <a:ext cx="196155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00355" y="3628330"/>
            <a:ext cx="224410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docs/EXPERT-GUIDE.md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812800" y="5588000"/>
            <a:ext cx="10566400" cy="1270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812800" y="5797550"/>
            <a:ext cx="91567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Команда CyberPink228 · litvinskiy-dev.ru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10058400" y="5797550"/>
            <a:ext cx="13208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14 / 14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Запас: защита проекта">
  <a:themeElements>
    <a:clrScheme name="Запас: защита проекта">
      <a:dk1>
        <a:srgbClr val="3B4553"/>
      </a:dk1>
      <a:lt1>
        <a:srgbClr val="CDE8F6"/>
      </a:lt1>
      <a:dk2>
        <a:srgbClr val="606E7C"/>
      </a:dk2>
      <a:lt2>
        <a:srgbClr val="BED8E6"/>
      </a:lt2>
      <a:accent1>
        <a:srgbClr val="F2B24A"/>
      </a:accent1>
      <a:accent2>
        <a:srgbClr val="3FB4EE"/>
      </a:accent2>
      <a:accent3>
        <a:srgbClr val="0069B4"/>
      </a:accent3>
      <a:accent4>
        <a:srgbClr val="1B3248"/>
      </a:accent4>
      <a:accent5>
        <a:srgbClr val="0088CC"/>
      </a:accent5>
      <a:accent6>
        <a:srgbClr val="1D4468"/>
      </a:accent6>
      <a:hlink>
        <a:srgbClr val="0563C1"/>
      </a:hlink>
      <a:folHlink>
        <a:srgbClr val="954F72"/>
      </a:folHlink>
    </a:clrScheme>
    <a:fontScheme name="Запас: защита проекта">
      <a:majorFont>
        <a:latin typeface="Unbound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Unbounde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Запас: защита проекта</dc:title>
  <dc:subject/>
  <dc:creator/>
  <cp:lastModifiedBy/>
  <cp:revision>1</cp:revision>
  <dcterms:created xsi:type="dcterms:W3CDTF">2026-10-16T07:58:18Z</dcterms:created>
  <dcterms:modified xsi:type="dcterms:W3CDTF">2026-10-16T07:58:18Z</dcterms:modified>
</cp:coreProperties>
</file>